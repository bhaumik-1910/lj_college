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8" r:id="rId15"/>
    <p:sldId id="271" r:id="rId16"/>
    <p:sldId id="272" r:id="rId17"/>
    <p:sldId id="293" r:id="rId18"/>
    <p:sldId id="274" r:id="rId19"/>
    <p:sldId id="275" r:id="rId20"/>
    <p:sldId id="276" r:id="rId21"/>
    <p:sldId id="279" r:id="rId22"/>
    <p:sldId id="280" r:id="rId23"/>
    <p:sldId id="281" r:id="rId24"/>
    <p:sldId id="277" r:id="rId25"/>
    <p:sldId id="282" r:id="rId26"/>
    <p:sldId id="283" r:id="rId27"/>
    <p:sldId id="286" r:id="rId28"/>
    <p:sldId id="287" r:id="rId29"/>
    <p:sldId id="288" r:id="rId30"/>
    <p:sldId id="289" r:id="rId31"/>
    <p:sldId id="290" r:id="rId32"/>
    <p:sldId id="291" r:id="rId33"/>
    <p:sldId id="292" r:id="rId34"/>
    <p:sldId id="294" r:id="rId35"/>
    <p:sldId id="295" r:id="rId36"/>
    <p:sldId id="296" r:id="rId37"/>
    <p:sldId id="297" r:id="rId38"/>
    <p:sldId id="298"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1330"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2598785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4117184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2897652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D7D888-8270-45A9-BD32-6EE278104AA8}"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1476833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D7D888-8270-45A9-BD32-6EE278104AA8}" type="datetimeFigureOut">
              <a:rPr lang="en-US" smtClean="0"/>
              <a:t>10/8/2025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768611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D7D888-8270-45A9-BD32-6EE278104AA8}" type="datetimeFigureOut">
              <a:rPr lang="en-US" smtClean="0"/>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4040599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7D888-8270-45A9-BD32-6EE278104AA8}" type="datetimeFigureOut">
              <a:rPr lang="en-US" smtClean="0"/>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1475088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0D7D888-8270-45A9-BD32-6EE278104AA8}"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2630146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0D7D888-8270-45A9-BD32-6EE278104AA8}" type="datetimeFigureOut">
              <a:rPr lang="en-US" smtClean="0"/>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2726185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4146542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66056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1178941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546761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5667388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11053381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D7D888-8270-45A9-BD32-6EE278104AA8}" type="datetimeFigureOut">
              <a:rPr lang="en-US" smtClean="0"/>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EAC72-B206-48AF-929D-B9086D1BC8A9}" type="slidenum">
              <a:rPr lang="en-US" smtClean="0"/>
              <a:t>‹#›</a:t>
            </a:fld>
            <a:endParaRPr lang="en-US"/>
          </a:p>
        </p:txBody>
      </p:sp>
    </p:spTree>
    <p:extLst>
      <p:ext uri="{BB962C8B-B14F-4D97-AF65-F5344CB8AC3E}">
        <p14:creationId xmlns:p14="http://schemas.microsoft.com/office/powerpoint/2010/main" val="3617429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0D7D888-8270-45A9-BD32-6EE278104AA8}" type="datetimeFigureOut">
              <a:rPr lang="en-US" smtClean="0"/>
              <a:t>10/8/2025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5FEAC72-B206-48AF-929D-B9086D1BC8A9}" type="slidenum">
              <a:rPr lang="en-US" smtClean="0"/>
              <a:t>‹#›</a:t>
            </a:fld>
            <a:endParaRPr lang="en-US"/>
          </a:p>
        </p:txBody>
      </p:sp>
    </p:spTree>
    <p:extLst>
      <p:ext uri="{BB962C8B-B14F-4D97-AF65-F5344CB8AC3E}">
        <p14:creationId xmlns:p14="http://schemas.microsoft.com/office/powerpoint/2010/main" val="1682239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CB8-71F3-4AEF-885A-A5516A2DB00C}"/>
              </a:ext>
            </a:extLst>
          </p:cNvPr>
          <p:cNvSpPr>
            <a:spLocks noGrp="1"/>
          </p:cNvSpPr>
          <p:nvPr>
            <p:ph type="ctrTitle"/>
          </p:nvPr>
        </p:nvSpPr>
        <p:spPr>
          <a:xfrm>
            <a:off x="968188" y="2404534"/>
            <a:ext cx="8305815" cy="1646302"/>
          </a:xfrm>
        </p:spPr>
        <p:txBody>
          <a:bodyPr/>
          <a:lstStyle/>
          <a:p>
            <a:pPr algn="ctr"/>
            <a:r>
              <a:rPr lang="en-US" b="1" dirty="0"/>
              <a:t>Unit-1: Introduction to DBMS </a:t>
            </a:r>
            <a:endParaRPr lang="en-US" dirty="0"/>
          </a:p>
        </p:txBody>
      </p:sp>
    </p:spTree>
    <p:extLst>
      <p:ext uri="{BB962C8B-B14F-4D97-AF65-F5344CB8AC3E}">
        <p14:creationId xmlns:p14="http://schemas.microsoft.com/office/powerpoint/2010/main" val="3344006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D08F9-A4C9-4138-94A4-D36B23450AF1}"/>
              </a:ext>
            </a:extLst>
          </p:cNvPr>
          <p:cNvSpPr>
            <a:spLocks noGrp="1"/>
          </p:cNvSpPr>
          <p:nvPr>
            <p:ph type="title"/>
          </p:nvPr>
        </p:nvSpPr>
        <p:spPr>
          <a:xfrm>
            <a:off x="677334" y="609600"/>
            <a:ext cx="8596668" cy="887505"/>
          </a:xfrm>
        </p:spPr>
        <p:txBody>
          <a:bodyPr>
            <a:normAutofit fontScale="90000"/>
          </a:bodyPr>
          <a:lstStyle/>
          <a:p>
            <a:pPr algn="just"/>
            <a:r>
              <a:rPr lang="en-US" sz="3000" dirty="0"/>
              <a:t> (1)What is Data? Differentiate between data and information. </a:t>
            </a:r>
          </a:p>
        </p:txBody>
      </p:sp>
      <p:graphicFrame>
        <p:nvGraphicFramePr>
          <p:cNvPr id="4" name="Content Placeholder 3">
            <a:extLst>
              <a:ext uri="{FF2B5EF4-FFF2-40B4-BE49-F238E27FC236}">
                <a16:creationId xmlns:a16="http://schemas.microsoft.com/office/drawing/2014/main" id="{4877020C-CB56-4559-9110-CBE9317FB623}"/>
              </a:ext>
            </a:extLst>
          </p:cNvPr>
          <p:cNvGraphicFramePr>
            <a:graphicFrameLocks noGrp="1"/>
          </p:cNvGraphicFramePr>
          <p:nvPr>
            <p:ph idx="1"/>
            <p:extLst>
              <p:ext uri="{D42A27DB-BD31-4B8C-83A1-F6EECF244321}">
                <p14:modId xmlns:p14="http://schemas.microsoft.com/office/powerpoint/2010/main" val="145258626"/>
              </p:ext>
            </p:extLst>
          </p:nvPr>
        </p:nvGraphicFramePr>
        <p:xfrm>
          <a:off x="677163" y="2626780"/>
          <a:ext cx="8359261" cy="3657600"/>
        </p:xfrm>
        <a:graphic>
          <a:graphicData uri="http://schemas.openxmlformats.org/drawingml/2006/table">
            <a:tbl>
              <a:tblPr firstRow="1" bandRow="1">
                <a:tableStyleId>{5C22544A-7EE6-4342-B048-85BDC9FD1C3A}</a:tableStyleId>
              </a:tblPr>
              <a:tblGrid>
                <a:gridCol w="1337137">
                  <a:extLst>
                    <a:ext uri="{9D8B030D-6E8A-4147-A177-3AD203B41FA5}">
                      <a16:colId xmlns:a16="http://schemas.microsoft.com/office/drawing/2014/main" val="1355618344"/>
                    </a:ext>
                  </a:extLst>
                </a:gridCol>
                <a:gridCol w="3765959">
                  <a:extLst>
                    <a:ext uri="{9D8B030D-6E8A-4147-A177-3AD203B41FA5}">
                      <a16:colId xmlns:a16="http://schemas.microsoft.com/office/drawing/2014/main" val="2334754724"/>
                    </a:ext>
                  </a:extLst>
                </a:gridCol>
                <a:gridCol w="3256165">
                  <a:extLst>
                    <a:ext uri="{9D8B030D-6E8A-4147-A177-3AD203B41FA5}">
                      <a16:colId xmlns:a16="http://schemas.microsoft.com/office/drawing/2014/main" val="3584739001"/>
                    </a:ext>
                  </a:extLst>
                </a:gridCol>
              </a:tblGrid>
              <a:tr h="323614">
                <a:tc>
                  <a:txBody>
                    <a:bodyPr/>
                    <a:lstStyle/>
                    <a:p>
                      <a:pPr algn="just"/>
                      <a:r>
                        <a:rPr lang="en-US" sz="1800" b="1" kern="1200" dirty="0">
                          <a:solidFill>
                            <a:schemeClr val="lt1"/>
                          </a:solidFill>
                          <a:effectLst/>
                          <a:latin typeface="+mn-lt"/>
                          <a:ea typeface="+mn-ea"/>
                          <a:cs typeface="+mn-cs"/>
                        </a:rPr>
                        <a:t>Basis</a:t>
                      </a:r>
                      <a:endParaRPr lang="en-US" dirty="0"/>
                    </a:p>
                  </a:txBody>
                  <a:tcPr/>
                </a:tc>
                <a:tc>
                  <a:txBody>
                    <a:bodyPr/>
                    <a:lstStyle/>
                    <a:p>
                      <a:pPr algn="just"/>
                      <a:r>
                        <a:rPr lang="en-US" sz="1800" b="1" kern="1200" dirty="0">
                          <a:solidFill>
                            <a:schemeClr val="lt1"/>
                          </a:solidFill>
                          <a:effectLst/>
                          <a:latin typeface="+mn-lt"/>
                          <a:ea typeface="+mn-ea"/>
                          <a:cs typeface="+mn-cs"/>
                        </a:rPr>
                        <a:t>Data</a:t>
                      </a:r>
                      <a:endParaRPr lang="en-US" dirty="0"/>
                    </a:p>
                  </a:txBody>
                  <a:tcPr/>
                </a:tc>
                <a:tc>
                  <a:txBody>
                    <a:bodyPr/>
                    <a:lstStyle/>
                    <a:p>
                      <a:pPr algn="just"/>
                      <a:r>
                        <a:rPr lang="en-US" sz="1800" b="1" kern="1200" dirty="0">
                          <a:solidFill>
                            <a:schemeClr val="lt1"/>
                          </a:solidFill>
                          <a:effectLst/>
                          <a:latin typeface="+mn-lt"/>
                          <a:ea typeface="+mn-ea"/>
                          <a:cs typeface="+mn-cs"/>
                        </a:rPr>
                        <a:t>Information</a:t>
                      </a:r>
                      <a:endParaRPr lang="en-US" dirty="0"/>
                    </a:p>
                  </a:txBody>
                  <a:tcPr/>
                </a:tc>
                <a:extLst>
                  <a:ext uri="{0D108BD9-81ED-4DB2-BD59-A6C34878D82A}">
                    <a16:rowId xmlns:a16="http://schemas.microsoft.com/office/drawing/2014/main" val="2906005001"/>
                  </a:ext>
                </a:extLst>
              </a:tr>
              <a:tr h="323614">
                <a:tc>
                  <a:txBody>
                    <a:bodyPr/>
                    <a:lstStyle/>
                    <a:p>
                      <a:pPr algn="just"/>
                      <a:r>
                        <a:rPr lang="en-US" sz="1800" kern="1200" dirty="0">
                          <a:solidFill>
                            <a:schemeClr val="dk1"/>
                          </a:solidFill>
                          <a:effectLst/>
                          <a:latin typeface="+mn-lt"/>
                          <a:ea typeface="+mn-ea"/>
                          <a:cs typeface="+mn-cs"/>
                        </a:rPr>
                        <a:t>Meaning</a:t>
                      </a:r>
                      <a:endParaRPr lang="en-US" dirty="0"/>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Raw facts, figures</a:t>
                      </a:r>
                      <a:endParaRPr lang="en-US" dirty="0">
                        <a:effectLst/>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Processed, meaningful data</a:t>
                      </a:r>
                      <a:endParaRPr lang="en-US" dirty="0">
                        <a:effectLst/>
                      </a:endParaRPr>
                    </a:p>
                  </a:txBody>
                  <a:tcPr/>
                </a:tc>
                <a:extLst>
                  <a:ext uri="{0D108BD9-81ED-4DB2-BD59-A6C34878D82A}">
                    <a16:rowId xmlns:a16="http://schemas.microsoft.com/office/drawing/2014/main" val="2010893981"/>
                  </a:ext>
                </a:extLst>
              </a:tr>
              <a:tr h="566324">
                <a:tc>
                  <a:txBody>
                    <a:bodyPr/>
                    <a:lstStyle/>
                    <a:p>
                      <a:pPr algn="just"/>
                      <a:r>
                        <a:rPr lang="en-US" dirty="0"/>
                        <a:t>Nature</a:t>
                      </a:r>
                    </a:p>
                  </a:txBody>
                  <a:tcPr/>
                </a:tc>
                <a:tc>
                  <a:txBody>
                    <a:bodyPr/>
                    <a:lstStyle/>
                    <a:p>
                      <a:pPr algn="just"/>
                      <a:r>
                        <a:rPr lang="en-US" dirty="0"/>
                        <a:t>Often lacks immediate meaning or context on its own.</a:t>
                      </a:r>
                    </a:p>
                  </a:txBody>
                  <a:tcPr/>
                </a:tc>
                <a:tc>
                  <a:txBody>
                    <a:bodyPr/>
                    <a:lstStyle/>
                    <a:p>
                      <a:pPr algn="just"/>
                      <a:r>
                        <a:rPr lang="en-US" dirty="0"/>
                        <a:t>Provides </a:t>
                      </a:r>
                      <a:r>
                        <a:rPr lang="en-US" b="1" dirty="0"/>
                        <a:t>meaningful and relevant insights</a:t>
                      </a:r>
                      <a:r>
                        <a:rPr lang="en-US" dirty="0"/>
                        <a:t> to users.</a:t>
                      </a:r>
                    </a:p>
                  </a:txBody>
                  <a:tcPr/>
                </a:tc>
                <a:extLst>
                  <a:ext uri="{0D108BD9-81ED-4DB2-BD59-A6C34878D82A}">
                    <a16:rowId xmlns:a16="http://schemas.microsoft.com/office/drawing/2014/main" val="1970334751"/>
                  </a:ext>
                </a:extLst>
              </a:tr>
              <a:tr h="323614">
                <a:tc>
                  <a:txBody>
                    <a:bodyPr/>
                    <a:lstStyle/>
                    <a:p>
                      <a:pPr algn="just"/>
                      <a:r>
                        <a:rPr lang="en-US" dirty="0"/>
                        <a:t>Purpose</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Input for processing</a:t>
                      </a:r>
                      <a:endParaRPr lang="en-US" dirty="0">
                        <a:effectLst/>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Output of data processing</a:t>
                      </a:r>
                      <a:endParaRPr lang="en-US" dirty="0">
                        <a:effectLst/>
                      </a:endParaRPr>
                    </a:p>
                  </a:txBody>
                  <a:tcPr/>
                </a:tc>
                <a:extLst>
                  <a:ext uri="{0D108BD9-81ED-4DB2-BD59-A6C34878D82A}">
                    <a16:rowId xmlns:a16="http://schemas.microsoft.com/office/drawing/2014/main" val="3908291721"/>
                  </a:ext>
                </a:extLst>
              </a:tr>
              <a:tr h="323614">
                <a:tc>
                  <a:txBody>
                    <a:bodyPr/>
                    <a:lstStyle/>
                    <a:p>
                      <a:pPr algn="just"/>
                      <a:r>
                        <a:rPr lang="en-US" sz="1800" kern="1200" dirty="0">
                          <a:solidFill>
                            <a:schemeClr val="dk1"/>
                          </a:solidFill>
                          <a:effectLst/>
                          <a:latin typeface="+mn-lt"/>
                          <a:ea typeface="+mn-ea"/>
                          <a:cs typeface="+mn-cs"/>
                        </a:rPr>
                        <a:t>Structure</a:t>
                      </a:r>
                      <a:endParaRPr lang="en-US" dirty="0"/>
                    </a:p>
                  </a:txBody>
                  <a:tcPr/>
                </a:tc>
                <a:tc>
                  <a:txBody>
                    <a:bodyPr/>
                    <a:lstStyle/>
                    <a:p>
                      <a:pPr algn="just"/>
                      <a:r>
                        <a:rPr lang="en-US" sz="1800" kern="1200" dirty="0">
                          <a:solidFill>
                            <a:schemeClr val="dk1"/>
                          </a:solidFill>
                          <a:effectLst/>
                          <a:latin typeface="+mn-lt"/>
                          <a:ea typeface="+mn-ea"/>
                          <a:cs typeface="+mn-cs"/>
                        </a:rPr>
                        <a:t>Unorganized</a:t>
                      </a:r>
                      <a:endParaRPr lang="en-US" dirty="0"/>
                    </a:p>
                  </a:txBody>
                  <a:tcPr/>
                </a:tc>
                <a:tc>
                  <a:txBody>
                    <a:bodyPr/>
                    <a:lstStyle/>
                    <a:p>
                      <a:pPr algn="just"/>
                      <a:r>
                        <a:rPr lang="en-US" sz="1800" kern="1200" dirty="0">
                          <a:solidFill>
                            <a:schemeClr val="dk1"/>
                          </a:solidFill>
                          <a:effectLst/>
                          <a:latin typeface="+mn-lt"/>
                          <a:ea typeface="+mn-ea"/>
                          <a:cs typeface="+mn-cs"/>
                        </a:rPr>
                        <a:t>Organized</a:t>
                      </a:r>
                      <a:endParaRPr lang="en-US" dirty="0"/>
                    </a:p>
                  </a:txBody>
                  <a:tcPr/>
                </a:tc>
                <a:extLst>
                  <a:ext uri="{0D108BD9-81ED-4DB2-BD59-A6C34878D82A}">
                    <a16:rowId xmlns:a16="http://schemas.microsoft.com/office/drawing/2014/main" val="1432012669"/>
                  </a:ext>
                </a:extLst>
              </a:tr>
              <a:tr h="809035">
                <a:tc>
                  <a:txBody>
                    <a:bodyPr/>
                    <a:lstStyle/>
                    <a:p>
                      <a:pPr algn="just"/>
                      <a:r>
                        <a:rPr lang="en-US" dirty="0"/>
                        <a:t>DBMS Role</a:t>
                      </a: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A </a:t>
                      </a:r>
                      <a:r>
                        <a:rPr lang="en-US" b="1" dirty="0"/>
                        <a:t>DBMS converts</a:t>
                      </a:r>
                      <a:r>
                        <a:rPr lang="en-US" dirty="0"/>
                        <a:t> this raw data into useful information by organizing and structuring it.</a:t>
                      </a:r>
                      <a:endParaRPr lang="en-US" dirty="0">
                        <a:effectLst/>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dirty="0"/>
                        <a:t>The end product that is valuable for users.</a:t>
                      </a:r>
                      <a:endParaRPr lang="en-US" dirty="0">
                        <a:effectLst/>
                      </a:endParaRPr>
                    </a:p>
                  </a:txBody>
                  <a:tcPr/>
                </a:tc>
                <a:extLst>
                  <a:ext uri="{0D108BD9-81ED-4DB2-BD59-A6C34878D82A}">
                    <a16:rowId xmlns:a16="http://schemas.microsoft.com/office/drawing/2014/main" val="1386294302"/>
                  </a:ext>
                </a:extLst>
              </a:tr>
              <a:tr h="566324">
                <a:tc>
                  <a:txBody>
                    <a:bodyPr/>
                    <a:lstStyle/>
                    <a:p>
                      <a:pPr algn="just"/>
                      <a:r>
                        <a:rPr lang="en-US" sz="1800" kern="1200" dirty="0">
                          <a:solidFill>
                            <a:schemeClr val="dk1"/>
                          </a:solidFill>
                          <a:effectLst/>
                          <a:latin typeface="+mn-lt"/>
                          <a:ea typeface="+mn-ea"/>
                          <a:cs typeface="+mn-cs"/>
                        </a:rPr>
                        <a:t>Example</a:t>
                      </a:r>
                      <a:endParaRPr lang="en-US" dirty="0"/>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25, “John”, “HR”</a:t>
                      </a:r>
                      <a:endParaRPr lang="en-US" dirty="0">
                        <a:effectLst/>
                      </a:endParaRPr>
                    </a:p>
                  </a:txBody>
                  <a:tcPr/>
                </a:tc>
                <a:tc>
                  <a:txBody>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“John works in HR and earns 25K/month”</a:t>
                      </a:r>
                      <a:endParaRPr lang="en-US" dirty="0">
                        <a:effectLst/>
                      </a:endParaRPr>
                    </a:p>
                  </a:txBody>
                  <a:tcPr/>
                </a:tc>
                <a:extLst>
                  <a:ext uri="{0D108BD9-81ED-4DB2-BD59-A6C34878D82A}">
                    <a16:rowId xmlns:a16="http://schemas.microsoft.com/office/drawing/2014/main" val="2886985551"/>
                  </a:ext>
                </a:extLst>
              </a:tr>
            </a:tbl>
          </a:graphicData>
        </a:graphic>
      </p:graphicFrame>
      <p:sp>
        <p:nvSpPr>
          <p:cNvPr id="6" name="Title 1">
            <a:extLst>
              <a:ext uri="{FF2B5EF4-FFF2-40B4-BE49-F238E27FC236}">
                <a16:creationId xmlns:a16="http://schemas.microsoft.com/office/drawing/2014/main" id="{EA278B92-D74D-492D-8B7F-707E3F9E7457}"/>
              </a:ext>
            </a:extLst>
          </p:cNvPr>
          <p:cNvSpPr txBox="1">
            <a:spLocks/>
          </p:cNvSpPr>
          <p:nvPr/>
        </p:nvSpPr>
        <p:spPr>
          <a:xfrm>
            <a:off x="677334" y="1748118"/>
            <a:ext cx="8596668" cy="726262"/>
          </a:xfrm>
          <a:prstGeom prst="rect">
            <a:avLst/>
          </a:prstGeom>
        </p:spPr>
        <p:txBody>
          <a:bodyPr vert="horz" lIns="91440" tIns="45720" rIns="91440" bIns="45720" rtlCol="0" anchor="t">
            <a:normAutofit fontScale="5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eaLnBrk="0" fontAlgn="base" hangingPunct="0"/>
            <a:r>
              <a:rPr lang="en-US" b="1" dirty="0"/>
              <a:t>Data</a:t>
            </a:r>
            <a:r>
              <a:rPr lang="en-US" dirty="0"/>
              <a:t> → Raw, unorganized facts such as numbers, names, or readings.</a:t>
            </a:r>
            <a:br>
              <a:rPr lang="en-US" dirty="0"/>
            </a:br>
            <a:r>
              <a:rPr lang="en-US" b="1" dirty="0"/>
              <a:t>Information</a:t>
            </a:r>
            <a:r>
              <a:rPr lang="en-US" dirty="0"/>
              <a:t> → Processed and meaningful form of data.</a:t>
            </a:r>
            <a:endParaRPr lang="en-US" sz="3200" dirty="0">
              <a:effectLst/>
            </a:endParaRPr>
          </a:p>
        </p:txBody>
      </p:sp>
    </p:spTree>
    <p:extLst>
      <p:ext uri="{BB962C8B-B14F-4D97-AF65-F5344CB8AC3E}">
        <p14:creationId xmlns:p14="http://schemas.microsoft.com/office/powerpoint/2010/main" val="2601809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C2892-6CC8-4FBD-B735-7AB4E33FB6CC}"/>
              </a:ext>
            </a:extLst>
          </p:cNvPr>
          <p:cNvSpPr>
            <a:spLocks noGrp="1"/>
          </p:cNvSpPr>
          <p:nvPr>
            <p:ph type="title"/>
          </p:nvPr>
        </p:nvSpPr>
        <p:spPr>
          <a:xfrm>
            <a:off x="677334" y="609600"/>
            <a:ext cx="8596668" cy="1004047"/>
          </a:xfrm>
        </p:spPr>
        <p:txBody>
          <a:bodyPr>
            <a:normAutofit/>
          </a:bodyPr>
          <a:lstStyle/>
          <a:p>
            <a:pPr algn="just"/>
            <a:r>
              <a:rPr lang="en-US" sz="2700" dirty="0"/>
              <a:t>(2) Differentiate between File Management System and Database Management System. </a:t>
            </a:r>
          </a:p>
        </p:txBody>
      </p:sp>
      <p:graphicFrame>
        <p:nvGraphicFramePr>
          <p:cNvPr id="4" name="Content Placeholder 3">
            <a:extLst>
              <a:ext uri="{FF2B5EF4-FFF2-40B4-BE49-F238E27FC236}">
                <a16:creationId xmlns:a16="http://schemas.microsoft.com/office/drawing/2014/main" id="{95CF7CA8-8E8B-4BB5-977A-83556F2C5DCE}"/>
              </a:ext>
            </a:extLst>
          </p:cNvPr>
          <p:cNvGraphicFramePr>
            <a:graphicFrameLocks noGrp="1"/>
          </p:cNvGraphicFramePr>
          <p:nvPr>
            <p:ph idx="1"/>
            <p:extLst>
              <p:ext uri="{D42A27DB-BD31-4B8C-83A1-F6EECF244321}">
                <p14:modId xmlns:p14="http://schemas.microsoft.com/office/powerpoint/2010/main" val="4230118054"/>
              </p:ext>
            </p:extLst>
          </p:nvPr>
        </p:nvGraphicFramePr>
        <p:xfrm>
          <a:off x="677863" y="2160588"/>
          <a:ext cx="8596311" cy="2595880"/>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3623898071"/>
                    </a:ext>
                  </a:extLst>
                </a:gridCol>
                <a:gridCol w="2865437">
                  <a:extLst>
                    <a:ext uri="{9D8B030D-6E8A-4147-A177-3AD203B41FA5}">
                      <a16:colId xmlns:a16="http://schemas.microsoft.com/office/drawing/2014/main" val="4045754333"/>
                    </a:ext>
                  </a:extLst>
                </a:gridCol>
                <a:gridCol w="2865437">
                  <a:extLst>
                    <a:ext uri="{9D8B030D-6E8A-4147-A177-3AD203B41FA5}">
                      <a16:colId xmlns:a16="http://schemas.microsoft.com/office/drawing/2014/main" val="3133540708"/>
                    </a:ext>
                  </a:extLst>
                </a:gridCol>
              </a:tblGrid>
              <a:tr h="370840">
                <a:tc>
                  <a:txBody>
                    <a:bodyPr/>
                    <a:lstStyle/>
                    <a:p>
                      <a:pPr algn="just"/>
                      <a:r>
                        <a:rPr lang="en-US" dirty="0"/>
                        <a:t>Feature</a:t>
                      </a:r>
                    </a:p>
                  </a:txBody>
                  <a:tcPr anchor="ctr"/>
                </a:tc>
                <a:tc>
                  <a:txBody>
                    <a:bodyPr/>
                    <a:lstStyle/>
                    <a:p>
                      <a:pPr algn="just"/>
                      <a:r>
                        <a:rPr lang="en-US"/>
                        <a:t>File System</a:t>
                      </a:r>
                    </a:p>
                  </a:txBody>
                  <a:tcPr anchor="ctr"/>
                </a:tc>
                <a:tc>
                  <a:txBody>
                    <a:bodyPr/>
                    <a:lstStyle/>
                    <a:p>
                      <a:pPr algn="just"/>
                      <a:r>
                        <a:rPr lang="en-US"/>
                        <a:t>DBMS</a:t>
                      </a:r>
                    </a:p>
                  </a:txBody>
                  <a:tcPr anchor="ctr"/>
                </a:tc>
                <a:extLst>
                  <a:ext uri="{0D108BD9-81ED-4DB2-BD59-A6C34878D82A}">
                    <a16:rowId xmlns:a16="http://schemas.microsoft.com/office/drawing/2014/main" val="4056957717"/>
                  </a:ext>
                </a:extLst>
              </a:tr>
              <a:tr h="370840">
                <a:tc>
                  <a:txBody>
                    <a:bodyPr/>
                    <a:lstStyle/>
                    <a:p>
                      <a:pPr algn="just"/>
                      <a:r>
                        <a:rPr lang="en-US" dirty="0"/>
                        <a:t>Data Storage</a:t>
                      </a:r>
                    </a:p>
                  </a:txBody>
                  <a:tcPr anchor="ctr"/>
                </a:tc>
                <a:tc>
                  <a:txBody>
                    <a:bodyPr/>
                    <a:lstStyle/>
                    <a:p>
                      <a:pPr algn="just"/>
                      <a:r>
                        <a:rPr lang="en-US"/>
                        <a:t>In separate files</a:t>
                      </a:r>
                    </a:p>
                  </a:txBody>
                  <a:tcPr anchor="ctr"/>
                </a:tc>
                <a:tc>
                  <a:txBody>
                    <a:bodyPr/>
                    <a:lstStyle/>
                    <a:p>
                      <a:pPr algn="just"/>
                      <a:r>
                        <a:rPr lang="en-US"/>
                        <a:t>In structured tables</a:t>
                      </a:r>
                    </a:p>
                  </a:txBody>
                  <a:tcPr anchor="ctr"/>
                </a:tc>
                <a:extLst>
                  <a:ext uri="{0D108BD9-81ED-4DB2-BD59-A6C34878D82A}">
                    <a16:rowId xmlns:a16="http://schemas.microsoft.com/office/drawing/2014/main" val="1971131357"/>
                  </a:ext>
                </a:extLst>
              </a:tr>
              <a:tr h="370840">
                <a:tc>
                  <a:txBody>
                    <a:bodyPr/>
                    <a:lstStyle/>
                    <a:p>
                      <a:pPr algn="just"/>
                      <a:r>
                        <a:rPr lang="en-US"/>
                        <a:t>Data Redundancy</a:t>
                      </a:r>
                    </a:p>
                  </a:txBody>
                  <a:tcPr anchor="ctr"/>
                </a:tc>
                <a:tc>
                  <a:txBody>
                    <a:bodyPr/>
                    <a:lstStyle/>
                    <a:p>
                      <a:pPr algn="just"/>
                      <a:r>
                        <a:rPr lang="en-US" dirty="0"/>
                        <a:t>High</a:t>
                      </a:r>
                    </a:p>
                  </a:txBody>
                  <a:tcPr anchor="ctr"/>
                </a:tc>
                <a:tc>
                  <a:txBody>
                    <a:bodyPr/>
                    <a:lstStyle/>
                    <a:p>
                      <a:pPr algn="just"/>
                      <a:r>
                        <a:rPr lang="en-US"/>
                        <a:t>Controlled</a:t>
                      </a:r>
                    </a:p>
                  </a:txBody>
                  <a:tcPr anchor="ctr"/>
                </a:tc>
                <a:extLst>
                  <a:ext uri="{0D108BD9-81ED-4DB2-BD59-A6C34878D82A}">
                    <a16:rowId xmlns:a16="http://schemas.microsoft.com/office/drawing/2014/main" val="3594540252"/>
                  </a:ext>
                </a:extLst>
              </a:tr>
              <a:tr h="370840">
                <a:tc>
                  <a:txBody>
                    <a:bodyPr/>
                    <a:lstStyle/>
                    <a:p>
                      <a:pPr algn="just"/>
                      <a:r>
                        <a:rPr lang="en-US"/>
                        <a:t>Security</a:t>
                      </a:r>
                    </a:p>
                  </a:txBody>
                  <a:tcPr anchor="ctr"/>
                </a:tc>
                <a:tc>
                  <a:txBody>
                    <a:bodyPr/>
                    <a:lstStyle/>
                    <a:p>
                      <a:pPr algn="just"/>
                      <a:r>
                        <a:rPr lang="en-US" dirty="0"/>
                        <a:t>Basic file-level</a:t>
                      </a:r>
                    </a:p>
                  </a:txBody>
                  <a:tcPr anchor="ctr"/>
                </a:tc>
                <a:tc>
                  <a:txBody>
                    <a:bodyPr/>
                    <a:lstStyle/>
                    <a:p>
                      <a:pPr algn="just"/>
                      <a:r>
                        <a:rPr lang="en-US"/>
                        <a:t>Advanced user-level</a:t>
                      </a:r>
                    </a:p>
                  </a:txBody>
                  <a:tcPr anchor="ctr"/>
                </a:tc>
                <a:extLst>
                  <a:ext uri="{0D108BD9-81ED-4DB2-BD59-A6C34878D82A}">
                    <a16:rowId xmlns:a16="http://schemas.microsoft.com/office/drawing/2014/main" val="2579017433"/>
                  </a:ext>
                </a:extLst>
              </a:tr>
              <a:tr h="370840">
                <a:tc>
                  <a:txBody>
                    <a:bodyPr/>
                    <a:lstStyle/>
                    <a:p>
                      <a:pPr algn="just"/>
                      <a:r>
                        <a:rPr lang="en-US"/>
                        <a:t>Concurrency</a:t>
                      </a:r>
                    </a:p>
                  </a:txBody>
                  <a:tcPr anchor="ctr"/>
                </a:tc>
                <a:tc>
                  <a:txBody>
                    <a:bodyPr/>
                    <a:lstStyle/>
                    <a:p>
                      <a:pPr algn="just"/>
                      <a:r>
                        <a:rPr lang="en-US"/>
                        <a:t>Difficult</a:t>
                      </a:r>
                    </a:p>
                  </a:txBody>
                  <a:tcPr anchor="ctr"/>
                </a:tc>
                <a:tc>
                  <a:txBody>
                    <a:bodyPr/>
                    <a:lstStyle/>
                    <a:p>
                      <a:pPr algn="just"/>
                      <a:r>
                        <a:rPr lang="en-US"/>
                        <a:t>Managed by DBMS</a:t>
                      </a:r>
                    </a:p>
                  </a:txBody>
                  <a:tcPr anchor="ctr"/>
                </a:tc>
                <a:extLst>
                  <a:ext uri="{0D108BD9-81ED-4DB2-BD59-A6C34878D82A}">
                    <a16:rowId xmlns:a16="http://schemas.microsoft.com/office/drawing/2014/main" val="3737672707"/>
                  </a:ext>
                </a:extLst>
              </a:tr>
              <a:tr h="370840">
                <a:tc>
                  <a:txBody>
                    <a:bodyPr/>
                    <a:lstStyle/>
                    <a:p>
                      <a:pPr algn="just"/>
                      <a:r>
                        <a:rPr lang="en-US"/>
                        <a:t>Backup &amp; Recovery</a:t>
                      </a:r>
                    </a:p>
                  </a:txBody>
                  <a:tcPr anchor="ctr"/>
                </a:tc>
                <a:tc>
                  <a:txBody>
                    <a:bodyPr/>
                    <a:lstStyle/>
                    <a:p>
                      <a:pPr algn="just"/>
                      <a:r>
                        <a:rPr lang="en-US"/>
                        <a:t>Manual</a:t>
                      </a:r>
                    </a:p>
                  </a:txBody>
                  <a:tcPr anchor="ctr"/>
                </a:tc>
                <a:tc>
                  <a:txBody>
                    <a:bodyPr/>
                    <a:lstStyle/>
                    <a:p>
                      <a:pPr algn="just"/>
                      <a:r>
                        <a:rPr lang="en-US"/>
                        <a:t>Built-in</a:t>
                      </a:r>
                    </a:p>
                  </a:txBody>
                  <a:tcPr anchor="ctr"/>
                </a:tc>
                <a:extLst>
                  <a:ext uri="{0D108BD9-81ED-4DB2-BD59-A6C34878D82A}">
                    <a16:rowId xmlns:a16="http://schemas.microsoft.com/office/drawing/2014/main" val="1559687799"/>
                  </a:ext>
                </a:extLst>
              </a:tr>
              <a:tr h="370840">
                <a:tc>
                  <a:txBody>
                    <a:bodyPr/>
                    <a:lstStyle/>
                    <a:p>
                      <a:pPr algn="just"/>
                      <a:r>
                        <a:rPr lang="en-US"/>
                        <a:t>Querying</a:t>
                      </a:r>
                    </a:p>
                  </a:txBody>
                  <a:tcPr anchor="ctr"/>
                </a:tc>
                <a:tc>
                  <a:txBody>
                    <a:bodyPr/>
                    <a:lstStyle/>
                    <a:p>
                      <a:pPr algn="just"/>
                      <a:r>
                        <a:rPr lang="en-US"/>
                        <a:t>Limited</a:t>
                      </a:r>
                    </a:p>
                  </a:txBody>
                  <a:tcPr anchor="ctr"/>
                </a:tc>
                <a:tc>
                  <a:txBody>
                    <a:bodyPr/>
                    <a:lstStyle/>
                    <a:p>
                      <a:pPr algn="just"/>
                      <a:r>
                        <a:rPr lang="en-US" dirty="0"/>
                        <a:t>Powerful (SQL)</a:t>
                      </a:r>
                    </a:p>
                  </a:txBody>
                  <a:tcPr anchor="ctr"/>
                </a:tc>
                <a:extLst>
                  <a:ext uri="{0D108BD9-81ED-4DB2-BD59-A6C34878D82A}">
                    <a16:rowId xmlns:a16="http://schemas.microsoft.com/office/drawing/2014/main" val="377713065"/>
                  </a:ext>
                </a:extLst>
              </a:tr>
            </a:tbl>
          </a:graphicData>
        </a:graphic>
      </p:graphicFrame>
    </p:spTree>
    <p:extLst>
      <p:ext uri="{BB962C8B-B14F-4D97-AF65-F5344CB8AC3E}">
        <p14:creationId xmlns:p14="http://schemas.microsoft.com/office/powerpoint/2010/main" val="2839838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7626-5E4C-4E39-8C99-18E4064E41AB}"/>
              </a:ext>
            </a:extLst>
          </p:cNvPr>
          <p:cNvSpPr>
            <a:spLocks noGrp="1"/>
          </p:cNvSpPr>
          <p:nvPr>
            <p:ph type="title"/>
          </p:nvPr>
        </p:nvSpPr>
        <p:spPr>
          <a:xfrm>
            <a:off x="677334" y="609600"/>
            <a:ext cx="8596668" cy="950259"/>
          </a:xfrm>
        </p:spPr>
        <p:txBody>
          <a:bodyPr>
            <a:normAutofit/>
          </a:bodyPr>
          <a:lstStyle/>
          <a:p>
            <a:pPr algn="just"/>
            <a:r>
              <a:rPr lang="en-US" sz="2700" dirty="0"/>
              <a:t>(3)Define DBMS. Give examples of Database Management Systems. </a:t>
            </a:r>
          </a:p>
        </p:txBody>
      </p:sp>
      <p:sp>
        <p:nvSpPr>
          <p:cNvPr id="3" name="Content Placeholder 2">
            <a:extLst>
              <a:ext uri="{FF2B5EF4-FFF2-40B4-BE49-F238E27FC236}">
                <a16:creationId xmlns:a16="http://schemas.microsoft.com/office/drawing/2014/main" id="{529B3D24-516B-41D4-A517-2B42E16382AB}"/>
              </a:ext>
            </a:extLst>
          </p:cNvPr>
          <p:cNvSpPr>
            <a:spLocks noGrp="1"/>
          </p:cNvSpPr>
          <p:nvPr>
            <p:ph idx="1"/>
          </p:nvPr>
        </p:nvSpPr>
        <p:spPr>
          <a:xfrm>
            <a:off x="677334" y="2160590"/>
            <a:ext cx="8596668" cy="1129458"/>
          </a:xfrm>
        </p:spPr>
        <p:txBody>
          <a:bodyPr/>
          <a:lstStyle/>
          <a:p>
            <a:pPr algn="just"/>
            <a:r>
              <a:rPr lang="en-US" dirty="0"/>
              <a:t>A </a:t>
            </a:r>
            <a:r>
              <a:rPr lang="en-US" b="1" dirty="0"/>
              <a:t>Database Management System (DBMS)</a:t>
            </a:r>
            <a:r>
              <a:rPr lang="en-US" dirty="0"/>
              <a:t> is software that manages the creation, storage, retrieval, and manipulation of data in databases.</a:t>
            </a:r>
            <a:br>
              <a:rPr lang="en-US" dirty="0"/>
            </a:br>
            <a:r>
              <a:rPr lang="en-US" b="1" dirty="0"/>
              <a:t>Examples:</a:t>
            </a:r>
            <a:r>
              <a:rPr lang="en-US" dirty="0"/>
              <a:t> MySQL, Oracle, MS SQL Server, PostgreSQL.</a:t>
            </a:r>
          </a:p>
        </p:txBody>
      </p:sp>
    </p:spTree>
    <p:extLst>
      <p:ext uri="{BB962C8B-B14F-4D97-AF65-F5344CB8AC3E}">
        <p14:creationId xmlns:p14="http://schemas.microsoft.com/office/powerpoint/2010/main" val="4044897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6729-EF30-4F1F-9422-C204ABA1A6F9}"/>
              </a:ext>
            </a:extLst>
          </p:cNvPr>
          <p:cNvSpPr>
            <a:spLocks noGrp="1"/>
          </p:cNvSpPr>
          <p:nvPr>
            <p:ph type="title"/>
          </p:nvPr>
        </p:nvSpPr>
        <p:spPr>
          <a:xfrm>
            <a:off x="677334" y="320233"/>
            <a:ext cx="8596668" cy="636494"/>
          </a:xfrm>
        </p:spPr>
        <p:txBody>
          <a:bodyPr>
            <a:normAutofit/>
          </a:bodyPr>
          <a:lstStyle/>
          <a:p>
            <a:pPr algn="just"/>
            <a:r>
              <a:rPr lang="en-US" sz="2700" dirty="0"/>
              <a:t>(4) Draw and explain Database System environment. </a:t>
            </a:r>
          </a:p>
        </p:txBody>
      </p:sp>
      <p:sp>
        <p:nvSpPr>
          <p:cNvPr id="3" name="Content Placeholder 2">
            <a:extLst>
              <a:ext uri="{FF2B5EF4-FFF2-40B4-BE49-F238E27FC236}">
                <a16:creationId xmlns:a16="http://schemas.microsoft.com/office/drawing/2014/main" id="{E192550E-B39F-45AB-A7D0-1C2C34D84198}"/>
              </a:ext>
            </a:extLst>
          </p:cNvPr>
          <p:cNvSpPr>
            <a:spLocks noGrp="1"/>
          </p:cNvSpPr>
          <p:nvPr>
            <p:ph idx="1"/>
          </p:nvPr>
        </p:nvSpPr>
        <p:spPr>
          <a:xfrm>
            <a:off x="677334" y="956726"/>
            <a:ext cx="8596668" cy="5901273"/>
          </a:xfrm>
        </p:spPr>
        <p:txBody>
          <a:bodyPr/>
          <a:lstStyle/>
          <a:p>
            <a:r>
              <a:rPr lang="en-US" b="1" dirty="0"/>
              <a:t>Components:</a:t>
            </a:r>
            <a:endParaRPr lang="en-US" dirty="0"/>
          </a:p>
          <a:p>
            <a:r>
              <a:rPr lang="en-US" b="1" dirty="0"/>
              <a:t>Database</a:t>
            </a:r>
            <a:r>
              <a:rPr lang="en-US" dirty="0"/>
              <a:t> – Stores data.</a:t>
            </a:r>
          </a:p>
          <a:p>
            <a:r>
              <a:rPr lang="en-US" b="1" dirty="0"/>
              <a:t>DBMS Software</a:t>
            </a:r>
            <a:r>
              <a:rPr lang="en-US" dirty="0"/>
              <a:t> – Manages database operations.</a:t>
            </a:r>
          </a:p>
          <a:p>
            <a:r>
              <a:rPr lang="en-US" b="1" dirty="0"/>
              <a:t>Database Administrator (DBA)</a:t>
            </a:r>
            <a:r>
              <a:rPr lang="en-US" dirty="0"/>
              <a:t> – Controls access and maintenance.</a:t>
            </a:r>
          </a:p>
          <a:p>
            <a:r>
              <a:rPr lang="en-US" b="1" dirty="0"/>
              <a:t>End Users / Applications</a:t>
            </a:r>
            <a:r>
              <a:rPr lang="en-US" dirty="0"/>
              <a:t> – Interact via SQL or interfaces.</a:t>
            </a:r>
          </a:p>
          <a:p>
            <a:r>
              <a:rPr lang="en-US" b="1" dirty="0"/>
              <a:t>Hardware &amp; OS</a:t>
            </a:r>
            <a:r>
              <a:rPr lang="en-US" dirty="0"/>
              <a:t> – Underlying infrastructure.</a:t>
            </a:r>
          </a:p>
          <a:p>
            <a:endParaRPr lang="en-US" dirty="0"/>
          </a:p>
        </p:txBody>
      </p:sp>
      <p:pic>
        <p:nvPicPr>
          <p:cNvPr id="5" name="Picture 4">
            <a:extLst>
              <a:ext uri="{FF2B5EF4-FFF2-40B4-BE49-F238E27FC236}">
                <a16:creationId xmlns:a16="http://schemas.microsoft.com/office/drawing/2014/main" id="{CB300361-B39C-4186-A768-5522762FF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3429000"/>
            <a:ext cx="8596668" cy="3366247"/>
          </a:xfrm>
          <a:prstGeom prst="rect">
            <a:avLst/>
          </a:prstGeom>
        </p:spPr>
      </p:pic>
    </p:spTree>
    <p:extLst>
      <p:ext uri="{BB962C8B-B14F-4D97-AF65-F5344CB8AC3E}">
        <p14:creationId xmlns:p14="http://schemas.microsoft.com/office/powerpoint/2010/main" val="3798791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66656-1EE0-4AC7-8FCF-949F7A576B2C}"/>
              </a:ext>
            </a:extLst>
          </p:cNvPr>
          <p:cNvSpPr>
            <a:spLocks noGrp="1"/>
          </p:cNvSpPr>
          <p:nvPr>
            <p:ph type="title"/>
          </p:nvPr>
        </p:nvSpPr>
        <p:spPr>
          <a:xfrm>
            <a:off x="677334" y="609600"/>
            <a:ext cx="8596668" cy="869576"/>
          </a:xfrm>
        </p:spPr>
        <p:txBody>
          <a:bodyPr>
            <a:noAutofit/>
          </a:bodyPr>
          <a:lstStyle/>
          <a:p>
            <a:pPr algn="just"/>
            <a:r>
              <a:rPr lang="en-US" sz="2700" dirty="0"/>
              <a:t>(5)What is Data Dictionary? Explain types of Data Dictionary. </a:t>
            </a:r>
          </a:p>
        </p:txBody>
      </p:sp>
      <p:sp>
        <p:nvSpPr>
          <p:cNvPr id="3" name="Content Placeholder 2">
            <a:extLst>
              <a:ext uri="{FF2B5EF4-FFF2-40B4-BE49-F238E27FC236}">
                <a16:creationId xmlns:a16="http://schemas.microsoft.com/office/drawing/2014/main" id="{EACE41AD-12AE-4168-BAB8-D3B90C12D797}"/>
              </a:ext>
            </a:extLst>
          </p:cNvPr>
          <p:cNvSpPr>
            <a:spLocks noGrp="1"/>
          </p:cNvSpPr>
          <p:nvPr>
            <p:ph idx="1"/>
          </p:nvPr>
        </p:nvSpPr>
        <p:spPr>
          <a:xfrm>
            <a:off x="677334" y="1613647"/>
            <a:ext cx="8596668" cy="4769224"/>
          </a:xfrm>
        </p:spPr>
        <p:txBody>
          <a:bodyPr>
            <a:normAutofit/>
          </a:bodyPr>
          <a:lstStyle/>
          <a:p>
            <a:pPr algn="just"/>
            <a:r>
              <a:rPr lang="en-US" dirty="0"/>
              <a:t>A </a:t>
            </a:r>
            <a:r>
              <a:rPr lang="en-US" b="1" dirty="0"/>
              <a:t>Data Dictionary</a:t>
            </a:r>
            <a:r>
              <a:rPr lang="en-US" dirty="0"/>
              <a:t> stores metadata — information about database structure, tables, attributes, users, and constraints.</a:t>
            </a:r>
          </a:p>
          <a:p>
            <a:pPr marL="0" indent="0" algn="just">
              <a:buNone/>
            </a:pPr>
            <a:endParaRPr lang="en-US" dirty="0"/>
          </a:p>
          <a:p>
            <a:pPr algn="just"/>
            <a:r>
              <a:rPr lang="en-US" b="1" dirty="0"/>
              <a:t>Types:</a:t>
            </a:r>
            <a:endParaRPr lang="en-US" dirty="0"/>
          </a:p>
          <a:p>
            <a:pPr algn="just"/>
            <a:r>
              <a:rPr lang="en-US" b="1" dirty="0"/>
              <a:t>Active Data Dictionary</a:t>
            </a:r>
            <a:r>
              <a:rPr lang="en-US" dirty="0"/>
              <a:t> – Automatically updated by DBMS (real-time).</a:t>
            </a:r>
          </a:p>
          <a:p>
            <a:pPr marL="0" indent="0" algn="just">
              <a:buNone/>
            </a:pPr>
            <a:r>
              <a:rPr lang="en-US" dirty="0"/>
              <a:t>		An active data dictionary is integrated with a database and 	updated 	automatically by the DBMS as changes occur, ensuring real-time 	accuracy 	and consistency.</a:t>
            </a:r>
          </a:p>
          <a:p>
            <a:pPr marL="0" indent="0" algn="just">
              <a:buNone/>
            </a:pPr>
            <a:endParaRPr lang="en-US" dirty="0"/>
          </a:p>
          <a:p>
            <a:pPr algn="just"/>
            <a:r>
              <a:rPr lang="en-US" b="1" dirty="0"/>
              <a:t>Passive Data Dictionary</a:t>
            </a:r>
            <a:r>
              <a:rPr lang="en-US" dirty="0"/>
              <a:t> – Updated manually by users, may be outdated.</a:t>
            </a:r>
          </a:p>
          <a:p>
            <a:pPr marL="0" indent="0" algn="just">
              <a:buNone/>
            </a:pPr>
            <a:r>
              <a:rPr lang="en-US" dirty="0"/>
              <a:t>		A passive data dictionary is a separate, standalone 	document that 	requires manual updates, making it prone to inconsistencies 	and outdated 	information, but it offers greater flexibility for custom use.</a:t>
            </a:r>
          </a:p>
          <a:p>
            <a:pPr algn="just"/>
            <a:endParaRPr lang="en-US" dirty="0"/>
          </a:p>
        </p:txBody>
      </p:sp>
    </p:spTree>
    <p:extLst>
      <p:ext uri="{BB962C8B-B14F-4D97-AF65-F5344CB8AC3E}">
        <p14:creationId xmlns:p14="http://schemas.microsoft.com/office/powerpoint/2010/main" val="72262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0B4E26-9404-4D35-B19E-7AF9A484397C}"/>
              </a:ext>
            </a:extLst>
          </p:cNvPr>
          <p:cNvSpPr>
            <a:spLocks noGrp="1"/>
          </p:cNvSpPr>
          <p:nvPr>
            <p:ph idx="1"/>
          </p:nvPr>
        </p:nvSpPr>
        <p:spPr>
          <a:xfrm>
            <a:off x="717630" y="1165866"/>
            <a:ext cx="9178723" cy="4195483"/>
          </a:xfrm>
        </p:spPr>
        <p:txBody>
          <a:bodyPr/>
          <a:lstStyle/>
          <a:p>
            <a:pPr algn="just"/>
            <a:r>
              <a:rPr lang="en-US" sz="2000" b="1" dirty="0"/>
              <a:t>Active Data Dictionary</a:t>
            </a:r>
          </a:p>
          <a:p>
            <a:pPr algn="just"/>
            <a:r>
              <a:rPr lang="en-US" b="1" dirty="0"/>
              <a:t>Integration: </a:t>
            </a:r>
            <a:r>
              <a:rPr lang="en-US" dirty="0"/>
              <a:t>Part of the database system and managed automatically by the DBMS.</a:t>
            </a:r>
          </a:p>
          <a:p>
            <a:pPr algn="just"/>
            <a:r>
              <a:rPr lang="en-US" b="1" dirty="0"/>
              <a:t>Updates: </a:t>
            </a:r>
            <a:r>
              <a:rPr lang="en-US" dirty="0"/>
              <a:t>Self-updating, meaning it reflects changes to the database schema</a:t>
            </a:r>
          </a:p>
          <a:p>
            <a:pPr marL="0" indent="0" algn="just">
              <a:buNone/>
            </a:pPr>
            <a:r>
              <a:rPr lang="en-US" dirty="0"/>
              <a:t>     or structure in real-time.</a:t>
            </a:r>
          </a:p>
          <a:p>
            <a:pPr algn="just"/>
            <a:r>
              <a:rPr lang="en-US" b="1" dirty="0"/>
              <a:t>Accuracy: </a:t>
            </a:r>
            <a:r>
              <a:rPr lang="en-US" dirty="0"/>
              <a:t>Highly accurate and consistent because it is always synchronized</a:t>
            </a:r>
          </a:p>
          <a:p>
            <a:pPr marL="0" indent="0" algn="just">
              <a:buNone/>
            </a:pPr>
            <a:r>
              <a:rPr lang="en-US" dirty="0"/>
              <a:t>     with the database.</a:t>
            </a:r>
          </a:p>
          <a:p>
            <a:pPr marL="0" indent="0" algn="just">
              <a:buNone/>
            </a:pPr>
            <a:r>
              <a:rPr lang="en-US" b="1" dirty="0"/>
              <a:t>Example:</a:t>
            </a:r>
          </a:p>
          <a:p>
            <a:pPr algn="just"/>
            <a:r>
              <a:rPr lang="en-US" dirty="0"/>
              <a:t>The system catalog within a Relational Database Management System</a:t>
            </a:r>
          </a:p>
          <a:p>
            <a:pPr marL="0" indent="0" algn="just">
              <a:buNone/>
            </a:pPr>
            <a:r>
              <a:rPr lang="en-US" dirty="0"/>
              <a:t>     (RDBMS) is an example of an active data dictionary.</a:t>
            </a:r>
          </a:p>
        </p:txBody>
      </p:sp>
    </p:spTree>
    <p:extLst>
      <p:ext uri="{BB962C8B-B14F-4D97-AF65-F5344CB8AC3E}">
        <p14:creationId xmlns:p14="http://schemas.microsoft.com/office/powerpoint/2010/main" val="115137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AC20DF-60B7-4E6A-8003-6C5F3C1B7937}"/>
              </a:ext>
            </a:extLst>
          </p:cNvPr>
          <p:cNvSpPr>
            <a:spLocks noGrp="1"/>
          </p:cNvSpPr>
          <p:nvPr>
            <p:ph idx="1"/>
          </p:nvPr>
        </p:nvSpPr>
        <p:spPr>
          <a:xfrm>
            <a:off x="712058" y="1387714"/>
            <a:ext cx="8596668" cy="3523130"/>
          </a:xfrm>
        </p:spPr>
        <p:txBody>
          <a:bodyPr/>
          <a:lstStyle/>
          <a:p>
            <a:pPr algn="just"/>
            <a:r>
              <a:rPr lang="en-US" sz="2000" b="1" dirty="0"/>
              <a:t>Passive Data Dictionary-</a:t>
            </a:r>
          </a:p>
          <a:p>
            <a:pPr algn="just"/>
            <a:r>
              <a:rPr lang="en-US" b="1" dirty="0"/>
              <a:t>Integration: </a:t>
            </a:r>
            <a:r>
              <a:rPr lang="en-US" dirty="0"/>
              <a:t>A separate, standalone entity that requires a separate database</a:t>
            </a:r>
          </a:p>
          <a:p>
            <a:pPr marL="0" indent="0" algn="just">
              <a:buNone/>
            </a:pPr>
            <a:r>
              <a:rPr lang="en-US" dirty="0"/>
              <a:t>     for storage.</a:t>
            </a:r>
          </a:p>
          <a:p>
            <a:pPr algn="just"/>
            <a:r>
              <a:rPr lang="en-US" b="1" dirty="0"/>
              <a:t>Updates: </a:t>
            </a:r>
            <a:r>
              <a:rPr lang="en-US" dirty="0"/>
              <a:t>Requires manual updates by users whenever changes are made to the database.</a:t>
            </a:r>
          </a:p>
          <a:p>
            <a:pPr algn="just"/>
            <a:r>
              <a:rPr lang="en-US" b="1" dirty="0"/>
              <a:t>Accuracy: </a:t>
            </a:r>
            <a:r>
              <a:rPr lang="en-US" dirty="0"/>
              <a:t>Can become inconsistent and outdated because it's not automatically synchronized with the database.</a:t>
            </a:r>
          </a:p>
          <a:p>
            <a:pPr algn="just"/>
            <a:r>
              <a:rPr lang="en-US" b="1" dirty="0"/>
              <a:t>Use: </a:t>
            </a:r>
            <a:r>
              <a:rPr lang="en-US" dirty="0"/>
              <a:t>Offers flexibility for users to manage and customize it independently</a:t>
            </a:r>
          </a:p>
          <a:p>
            <a:pPr marL="0" indent="0" algn="just">
              <a:buNone/>
            </a:pPr>
            <a:r>
              <a:rPr lang="en-US" dirty="0"/>
              <a:t>     from the specific RDBMS.</a:t>
            </a:r>
          </a:p>
        </p:txBody>
      </p:sp>
    </p:spTree>
    <p:extLst>
      <p:ext uri="{BB962C8B-B14F-4D97-AF65-F5344CB8AC3E}">
        <p14:creationId xmlns:p14="http://schemas.microsoft.com/office/powerpoint/2010/main" val="3964682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1760B-00B6-4DB6-97AA-353FE61BBE31}"/>
              </a:ext>
            </a:extLst>
          </p:cNvPr>
          <p:cNvSpPr>
            <a:spLocks noGrp="1"/>
          </p:cNvSpPr>
          <p:nvPr>
            <p:ph type="title"/>
          </p:nvPr>
        </p:nvSpPr>
        <p:spPr/>
        <p:txBody>
          <a:bodyPr>
            <a:noAutofit/>
          </a:bodyPr>
          <a:lstStyle/>
          <a:p>
            <a:pPr algn="just"/>
            <a:r>
              <a:rPr lang="en-US" sz="2700" dirty="0"/>
              <a:t>(6) How many types of database users are there? </a:t>
            </a:r>
            <a:br>
              <a:rPr lang="en-US" sz="2700" dirty="0"/>
            </a:br>
            <a:r>
              <a:rPr lang="en-US" sz="2700" dirty="0"/>
              <a:t>Explain the roles / characteristics of any three types of users. </a:t>
            </a:r>
          </a:p>
        </p:txBody>
      </p:sp>
      <p:sp>
        <p:nvSpPr>
          <p:cNvPr id="3" name="Content Placeholder 2">
            <a:extLst>
              <a:ext uri="{FF2B5EF4-FFF2-40B4-BE49-F238E27FC236}">
                <a16:creationId xmlns:a16="http://schemas.microsoft.com/office/drawing/2014/main" id="{6C5B81FF-2FF5-425C-AF54-1AC6F49AADA5}"/>
              </a:ext>
            </a:extLst>
          </p:cNvPr>
          <p:cNvSpPr>
            <a:spLocks noGrp="1"/>
          </p:cNvSpPr>
          <p:nvPr>
            <p:ph idx="1"/>
          </p:nvPr>
        </p:nvSpPr>
        <p:spPr/>
        <p:txBody>
          <a:bodyPr/>
          <a:lstStyle/>
          <a:p>
            <a:pPr algn="just"/>
            <a:r>
              <a:rPr lang="en-US" b="1" dirty="0"/>
              <a:t>1. Database Administrator (DBA)</a:t>
            </a:r>
          </a:p>
          <a:p>
            <a:pPr algn="just"/>
            <a:r>
              <a:rPr lang="en-US" b="1" dirty="0"/>
              <a:t>Role/Characteristics:</a:t>
            </a:r>
            <a:r>
              <a:rPr lang="en-US" dirty="0"/>
              <a:t> The DBA has </a:t>
            </a:r>
            <a:r>
              <a:rPr lang="en-US" b="1" dirty="0"/>
              <a:t>central control</a:t>
            </a:r>
            <a:r>
              <a:rPr lang="en-US" dirty="0"/>
              <a:t> over the entire database system.</a:t>
            </a:r>
          </a:p>
          <a:p>
            <a:pPr algn="just"/>
            <a:r>
              <a:rPr lang="en-US" b="1" dirty="0"/>
              <a:t>Responsibilities:</a:t>
            </a:r>
            <a:endParaRPr lang="en-US" dirty="0"/>
          </a:p>
          <a:p>
            <a:pPr lvl="1" algn="just"/>
            <a:r>
              <a:rPr lang="en-US" sz="1800" dirty="0"/>
              <a:t>Authorizing access to the database.</a:t>
            </a:r>
          </a:p>
          <a:p>
            <a:pPr lvl="1" algn="just"/>
            <a:r>
              <a:rPr lang="en-US" sz="1800" dirty="0"/>
              <a:t>Coordinating and monitoring the database's use.</a:t>
            </a:r>
          </a:p>
          <a:p>
            <a:pPr lvl="1" algn="just"/>
            <a:r>
              <a:rPr lang="en-US" sz="1800" dirty="0"/>
              <a:t>Managing resources (software and hardware) needed for the database.</a:t>
            </a:r>
          </a:p>
          <a:p>
            <a:pPr lvl="1" algn="just"/>
            <a:r>
              <a:rPr lang="en-US" sz="1800" dirty="0"/>
              <a:t>Implementing security and backup procedures.</a:t>
            </a:r>
          </a:p>
          <a:p>
            <a:pPr algn="just"/>
            <a:endParaRPr lang="en-US" dirty="0"/>
          </a:p>
        </p:txBody>
      </p:sp>
    </p:spTree>
    <p:extLst>
      <p:ext uri="{BB962C8B-B14F-4D97-AF65-F5344CB8AC3E}">
        <p14:creationId xmlns:p14="http://schemas.microsoft.com/office/powerpoint/2010/main" val="2069584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03567B-B024-4AF9-8ED3-CF52F49FC336}"/>
              </a:ext>
            </a:extLst>
          </p:cNvPr>
          <p:cNvSpPr>
            <a:spLocks noGrp="1"/>
          </p:cNvSpPr>
          <p:nvPr>
            <p:ph idx="1"/>
          </p:nvPr>
        </p:nvSpPr>
        <p:spPr>
          <a:xfrm>
            <a:off x="104173" y="173620"/>
            <a:ext cx="9595412" cy="6331352"/>
          </a:xfrm>
        </p:spPr>
        <p:txBody>
          <a:bodyPr>
            <a:noAutofit/>
          </a:bodyPr>
          <a:lstStyle/>
          <a:p>
            <a:pPr algn="just"/>
            <a:r>
              <a:rPr lang="en-US" b="1" dirty="0"/>
              <a:t>2. Database Designers</a:t>
            </a:r>
          </a:p>
          <a:p>
            <a:pPr algn="just"/>
            <a:r>
              <a:rPr lang="en-US" b="1" dirty="0"/>
              <a:t>Role/Characteristics:</a:t>
            </a:r>
            <a:r>
              <a:rPr lang="en-US" dirty="0"/>
              <a:t> These users are responsible for </a:t>
            </a:r>
            <a:r>
              <a:rPr lang="en-US" b="1" dirty="0"/>
              <a:t>defining the structure</a:t>
            </a:r>
            <a:r>
              <a:rPr lang="en-US" dirty="0"/>
              <a:t> (schema) of the database.</a:t>
            </a:r>
          </a:p>
          <a:p>
            <a:pPr algn="just"/>
            <a:r>
              <a:rPr lang="en-US" b="1" dirty="0"/>
              <a:t>Responsibilities:</a:t>
            </a:r>
            <a:endParaRPr lang="en-US" dirty="0"/>
          </a:p>
          <a:p>
            <a:pPr lvl="1" algn="just"/>
            <a:r>
              <a:rPr lang="en-US" sz="1800" dirty="0"/>
              <a:t>Identifying the data requirements of the users.</a:t>
            </a:r>
          </a:p>
          <a:p>
            <a:pPr lvl="1" algn="just"/>
            <a:r>
              <a:rPr lang="en-US" sz="1800" dirty="0"/>
              <a:t>Choosing the appropriate database structure (tables, relationships, constraints) to store the data.</a:t>
            </a:r>
          </a:p>
          <a:p>
            <a:pPr lvl="1" algn="just"/>
            <a:r>
              <a:rPr lang="en-US" sz="1800" dirty="0"/>
              <a:t>Ensuring the design meets all business requirements and performs efficiently.</a:t>
            </a:r>
          </a:p>
          <a:p>
            <a:pPr algn="just"/>
            <a:r>
              <a:rPr lang="en-US" b="1" dirty="0"/>
              <a:t>3. End Users</a:t>
            </a:r>
          </a:p>
          <a:p>
            <a:pPr algn="just"/>
            <a:r>
              <a:rPr lang="en-US" b="1" dirty="0"/>
              <a:t>Role/Characteristics:</a:t>
            </a:r>
            <a:r>
              <a:rPr lang="en-US" dirty="0"/>
              <a:t> These are the people who interact with the database either directly or indirectly to perform their work.</a:t>
            </a:r>
          </a:p>
          <a:p>
            <a:pPr algn="just"/>
            <a:r>
              <a:rPr lang="en-US" b="1" dirty="0"/>
              <a:t>Sub-categories (Examples):</a:t>
            </a:r>
            <a:endParaRPr lang="en-US" dirty="0"/>
          </a:p>
          <a:p>
            <a:pPr lvl="1" algn="just"/>
            <a:r>
              <a:rPr lang="en-US" sz="1800" b="1" dirty="0"/>
              <a:t>Naive/Parametric End Users:</a:t>
            </a:r>
            <a:r>
              <a:rPr lang="en-US" sz="1800" dirty="0"/>
              <a:t> Use pre-written, specialized application programs (e.g., bank tellers, airline reservation clerks).</a:t>
            </a:r>
          </a:p>
          <a:p>
            <a:pPr lvl="1" algn="just"/>
            <a:r>
              <a:rPr lang="en-US" sz="1800" b="1" dirty="0"/>
              <a:t>Sophisticated End Users:</a:t>
            </a:r>
            <a:r>
              <a:rPr lang="en-US" sz="1800" dirty="0"/>
              <a:t> Interact directly with the DBMS using query languages (like SQL) or analysis tools (e.g., business analysts, scientists).</a:t>
            </a:r>
          </a:p>
          <a:p>
            <a:pPr lvl="1" algn="just"/>
            <a:r>
              <a:rPr lang="en-US" sz="1800" b="1" dirty="0"/>
              <a:t>Casual End Users:</a:t>
            </a:r>
            <a:r>
              <a:rPr lang="en-US" sz="1800" dirty="0"/>
              <a:t> Access the database occasionally but need different information each time (e.g., high-level managers).</a:t>
            </a:r>
          </a:p>
          <a:p>
            <a:pPr algn="just"/>
            <a:endParaRPr lang="en-US" dirty="0"/>
          </a:p>
        </p:txBody>
      </p:sp>
    </p:spTree>
    <p:extLst>
      <p:ext uri="{BB962C8B-B14F-4D97-AF65-F5344CB8AC3E}">
        <p14:creationId xmlns:p14="http://schemas.microsoft.com/office/powerpoint/2010/main" val="2799385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7FD10D-D14B-4A06-9498-E9E2C5E189A5}"/>
              </a:ext>
            </a:extLst>
          </p:cNvPr>
          <p:cNvSpPr>
            <a:spLocks noGrp="1"/>
          </p:cNvSpPr>
          <p:nvPr>
            <p:ph idx="1"/>
          </p:nvPr>
        </p:nvSpPr>
        <p:spPr>
          <a:xfrm>
            <a:off x="677334" y="502025"/>
            <a:ext cx="8596668" cy="2528046"/>
          </a:xfrm>
        </p:spPr>
        <p:txBody>
          <a:bodyPr/>
          <a:lstStyle/>
          <a:p>
            <a:pPr algn="just"/>
            <a:r>
              <a:rPr lang="en-US" b="1" dirty="0"/>
              <a:t>Other Database Users</a:t>
            </a:r>
          </a:p>
          <a:p>
            <a:pPr algn="just"/>
            <a:r>
              <a:rPr lang="en-US" b="1" dirty="0"/>
              <a:t>Application Programmers:</a:t>
            </a:r>
            <a:r>
              <a:rPr lang="en-US" dirty="0"/>
              <a:t> Developers who write the programs that access the database and present data to end users.</a:t>
            </a:r>
          </a:p>
          <a:p>
            <a:pPr algn="just"/>
            <a:r>
              <a:rPr lang="en-US" b="1" dirty="0"/>
              <a:t>System Administrators:</a:t>
            </a:r>
            <a:r>
              <a:rPr lang="en-US" dirty="0"/>
              <a:t> Manage the overall computer system and network on which the DBMS resides.</a:t>
            </a:r>
          </a:p>
          <a:p>
            <a:pPr algn="just"/>
            <a:r>
              <a:rPr lang="en-US" b="1" dirty="0"/>
              <a:t>Security Officers:</a:t>
            </a:r>
            <a:r>
              <a:rPr lang="en-US" dirty="0"/>
              <a:t> Responsible for establishing and enforcing data security policies and training users on security.</a:t>
            </a:r>
          </a:p>
          <a:p>
            <a:pPr algn="just"/>
            <a:endParaRPr lang="en-US" dirty="0"/>
          </a:p>
        </p:txBody>
      </p:sp>
    </p:spTree>
    <p:extLst>
      <p:ext uri="{BB962C8B-B14F-4D97-AF65-F5344CB8AC3E}">
        <p14:creationId xmlns:p14="http://schemas.microsoft.com/office/powerpoint/2010/main" val="858779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BDA9-95FA-4DE7-9B09-123101F136FB}"/>
              </a:ext>
            </a:extLst>
          </p:cNvPr>
          <p:cNvSpPr>
            <a:spLocks noGrp="1"/>
          </p:cNvSpPr>
          <p:nvPr>
            <p:ph type="title"/>
          </p:nvPr>
        </p:nvSpPr>
        <p:spPr>
          <a:xfrm>
            <a:off x="677334" y="609600"/>
            <a:ext cx="8596668" cy="941294"/>
          </a:xfrm>
        </p:spPr>
        <p:txBody>
          <a:bodyPr>
            <a:normAutofit/>
          </a:bodyPr>
          <a:lstStyle/>
          <a:p>
            <a:pPr algn="just"/>
            <a:r>
              <a:rPr lang="en-US" sz="2700" dirty="0"/>
              <a:t>(7)Explain different types of database architectures with its advantage and limitation. </a:t>
            </a:r>
          </a:p>
        </p:txBody>
      </p:sp>
      <p:sp>
        <p:nvSpPr>
          <p:cNvPr id="3" name="Content Placeholder 2">
            <a:extLst>
              <a:ext uri="{FF2B5EF4-FFF2-40B4-BE49-F238E27FC236}">
                <a16:creationId xmlns:a16="http://schemas.microsoft.com/office/drawing/2014/main" id="{BDC8918A-4F95-413E-A735-1F5FDF8F84D2}"/>
              </a:ext>
            </a:extLst>
          </p:cNvPr>
          <p:cNvSpPr>
            <a:spLocks noGrp="1"/>
          </p:cNvSpPr>
          <p:nvPr>
            <p:ph idx="1"/>
          </p:nvPr>
        </p:nvSpPr>
        <p:spPr>
          <a:xfrm>
            <a:off x="677334" y="1550894"/>
            <a:ext cx="8596668" cy="1021979"/>
          </a:xfrm>
        </p:spPr>
        <p:txBody>
          <a:bodyPr/>
          <a:lstStyle/>
          <a:p>
            <a:pPr algn="just"/>
            <a:r>
              <a:rPr lang="en-US" dirty="0"/>
              <a:t>1. Centralized Architecture (Single-Tier)</a:t>
            </a:r>
          </a:p>
          <a:p>
            <a:pPr lvl="1" algn="just"/>
            <a:r>
              <a:rPr lang="en-US" dirty="0"/>
              <a:t>In a centralized architecture, the entire DBMS, application programs, and the database are all located on a single computer system or server.</a:t>
            </a:r>
          </a:p>
          <a:p>
            <a:pPr marL="457200" lvl="1" indent="0" algn="just">
              <a:buNone/>
            </a:pPr>
            <a:endParaRPr lang="en-US" dirty="0"/>
          </a:p>
        </p:txBody>
      </p:sp>
      <p:graphicFrame>
        <p:nvGraphicFramePr>
          <p:cNvPr id="4" name="Table 3">
            <a:extLst>
              <a:ext uri="{FF2B5EF4-FFF2-40B4-BE49-F238E27FC236}">
                <a16:creationId xmlns:a16="http://schemas.microsoft.com/office/drawing/2014/main" id="{651B1BAC-098E-4D5C-8CE1-7CE9FE1F4BEB}"/>
              </a:ext>
            </a:extLst>
          </p:cNvPr>
          <p:cNvGraphicFramePr>
            <a:graphicFrameLocks noGrp="1"/>
          </p:cNvGraphicFramePr>
          <p:nvPr>
            <p:extLst>
              <p:ext uri="{D42A27DB-BD31-4B8C-83A1-F6EECF244321}">
                <p14:modId xmlns:p14="http://schemas.microsoft.com/office/powerpoint/2010/main" val="3492893144"/>
              </p:ext>
            </p:extLst>
          </p:nvPr>
        </p:nvGraphicFramePr>
        <p:xfrm>
          <a:off x="439271" y="2572873"/>
          <a:ext cx="9735669" cy="4000281"/>
        </p:xfrm>
        <a:graphic>
          <a:graphicData uri="http://schemas.openxmlformats.org/drawingml/2006/table">
            <a:tbl>
              <a:tblPr firstRow="1" bandRow="1">
                <a:tableStyleId>{5C22544A-7EE6-4342-B048-85BDC9FD1C3A}</a:tableStyleId>
              </a:tblPr>
              <a:tblGrid>
                <a:gridCol w="1272988">
                  <a:extLst>
                    <a:ext uri="{9D8B030D-6E8A-4147-A177-3AD203B41FA5}">
                      <a16:colId xmlns:a16="http://schemas.microsoft.com/office/drawing/2014/main" val="2434128427"/>
                    </a:ext>
                  </a:extLst>
                </a:gridCol>
                <a:gridCol w="5217458">
                  <a:extLst>
                    <a:ext uri="{9D8B030D-6E8A-4147-A177-3AD203B41FA5}">
                      <a16:colId xmlns:a16="http://schemas.microsoft.com/office/drawing/2014/main" val="4171372525"/>
                    </a:ext>
                  </a:extLst>
                </a:gridCol>
                <a:gridCol w="3245223">
                  <a:extLst>
                    <a:ext uri="{9D8B030D-6E8A-4147-A177-3AD203B41FA5}">
                      <a16:colId xmlns:a16="http://schemas.microsoft.com/office/drawing/2014/main" val="3219134660"/>
                    </a:ext>
                  </a:extLst>
                </a:gridCol>
              </a:tblGrid>
              <a:tr h="328694">
                <a:tc>
                  <a:txBody>
                    <a:bodyPr/>
                    <a:lstStyle/>
                    <a:p>
                      <a:r>
                        <a:rPr lang="en-US" dirty="0"/>
                        <a:t>Feature</a:t>
                      </a:r>
                    </a:p>
                  </a:txBody>
                  <a:tcPr/>
                </a:tc>
                <a:tc>
                  <a:txBody>
                    <a:bodyPr/>
                    <a:lstStyle/>
                    <a:p>
                      <a:r>
                        <a:rPr lang="en-US" dirty="0"/>
                        <a:t>Advantage</a:t>
                      </a:r>
                    </a:p>
                  </a:txBody>
                  <a:tcPr/>
                </a:tc>
                <a:tc>
                  <a:txBody>
                    <a:bodyPr/>
                    <a:lstStyle/>
                    <a:p>
                      <a:r>
                        <a:rPr lang="en-US" dirty="0"/>
                        <a:t>Limitation</a:t>
                      </a:r>
                    </a:p>
                  </a:txBody>
                  <a:tcPr/>
                </a:tc>
                <a:extLst>
                  <a:ext uri="{0D108BD9-81ED-4DB2-BD59-A6C34878D82A}">
                    <a16:rowId xmlns:a16="http://schemas.microsoft.com/office/drawing/2014/main" val="517184135"/>
                  </a:ext>
                </a:extLst>
              </a:tr>
              <a:tr h="1531401">
                <a:tc>
                  <a:txBody>
                    <a:bodyPr/>
                    <a:lstStyle/>
                    <a:p>
                      <a:r>
                        <a:rPr lang="en-US" dirty="0"/>
                        <a:t>Simplicity</a:t>
                      </a:r>
                    </a:p>
                  </a:txBody>
                  <a:tcPr/>
                </a:tc>
                <a:tc>
                  <a:txBody>
                    <a:bodyPr/>
                    <a:lstStyle/>
                    <a:p>
                      <a:pPr algn="just"/>
                      <a:r>
                        <a:rPr lang="en-US" dirty="0"/>
                        <a:t>Easy to set up, maintain, and manage security, as everything is in one place.</a:t>
                      </a:r>
                    </a:p>
                  </a:txBody>
                  <a:tcPr/>
                </a:tc>
                <a:tc>
                  <a:txBody>
                    <a:bodyPr/>
                    <a:lstStyle/>
                    <a:p>
                      <a:pPr algn="just"/>
                      <a:r>
                        <a:rPr lang="en-US" b="1" dirty="0"/>
                        <a:t>Lack of Scalability:</a:t>
                      </a:r>
                      <a:r>
                        <a:rPr lang="en-US" dirty="0"/>
                        <a:t> Difficult to handle a growing number of users or transactions, leading to performance bottlenecks.</a:t>
                      </a:r>
                    </a:p>
                  </a:txBody>
                  <a:tcPr/>
                </a:tc>
                <a:extLst>
                  <a:ext uri="{0D108BD9-81ED-4DB2-BD59-A6C34878D82A}">
                    <a16:rowId xmlns:a16="http://schemas.microsoft.com/office/drawing/2014/main" val="1889794207"/>
                  </a:ext>
                </a:extLst>
              </a:tr>
              <a:tr h="878773">
                <a:tc>
                  <a:txBody>
                    <a:bodyPr/>
                    <a:lstStyle/>
                    <a:p>
                      <a:r>
                        <a:rPr lang="en-US" dirty="0"/>
                        <a:t>Cost</a:t>
                      </a:r>
                    </a:p>
                  </a:txBody>
                  <a:tcPr/>
                </a:tc>
                <a:tc>
                  <a:txBody>
                    <a:bodyPr/>
                    <a:lstStyle/>
                    <a:p>
                      <a:pPr algn="just"/>
                      <a:r>
                        <a:rPr lang="en-US" dirty="0"/>
                        <a:t>Less expensive for small organizations due to minimal networking and hardware requirements.</a:t>
                      </a:r>
                    </a:p>
                  </a:txBody>
                  <a:tcPr/>
                </a:tc>
                <a:tc>
                  <a:txBody>
                    <a:bodyPr/>
                    <a:lstStyle/>
                    <a:p>
                      <a:pPr algn="just"/>
                      <a:r>
                        <a:rPr lang="en-US" b="1" dirty="0"/>
                        <a:t>Dependence:</a:t>
                      </a:r>
                      <a:r>
                        <a:rPr lang="en-US" dirty="0"/>
                        <a:t> Total system failure if the single host computer fails.</a:t>
                      </a:r>
                    </a:p>
                  </a:txBody>
                  <a:tcPr/>
                </a:tc>
                <a:extLst>
                  <a:ext uri="{0D108BD9-81ED-4DB2-BD59-A6C34878D82A}">
                    <a16:rowId xmlns:a16="http://schemas.microsoft.com/office/drawing/2014/main" val="2580951877"/>
                  </a:ext>
                </a:extLst>
              </a:tr>
              <a:tr h="1081568">
                <a:tc>
                  <a:txBody>
                    <a:bodyPr/>
                    <a:lstStyle/>
                    <a:p>
                      <a:r>
                        <a:rPr lang="en-US" dirty="0"/>
                        <a:t>Security</a:t>
                      </a:r>
                    </a:p>
                  </a:txBody>
                  <a:tcPr/>
                </a:tc>
                <a:tc>
                  <a:txBody>
                    <a:bodyPr/>
                    <a:lstStyle/>
                    <a:p>
                      <a:pPr algn="just"/>
                      <a:r>
                        <a:rPr lang="en-US" dirty="0"/>
                        <a:t>Easier to implement and manage physical access and software security.</a:t>
                      </a:r>
                    </a:p>
                  </a:txBody>
                  <a:tcPr/>
                </a:tc>
                <a:tc>
                  <a:txBody>
                    <a:bodyPr/>
                    <a:lstStyle/>
                    <a:p>
                      <a:pPr algn="just"/>
                      <a:r>
                        <a:rPr lang="en-US" dirty="0"/>
                        <a:t>Only suitable for applications with </a:t>
                      </a:r>
                      <a:r>
                        <a:rPr lang="en-US" b="1" dirty="0"/>
                        <a:t>small data volume</a:t>
                      </a:r>
                      <a:r>
                        <a:rPr lang="en-US" dirty="0"/>
                        <a:t> and few users (e.g., a simple personal database).</a:t>
                      </a:r>
                    </a:p>
                  </a:txBody>
                  <a:tcPr/>
                </a:tc>
                <a:extLst>
                  <a:ext uri="{0D108BD9-81ED-4DB2-BD59-A6C34878D82A}">
                    <a16:rowId xmlns:a16="http://schemas.microsoft.com/office/drawing/2014/main" val="60038480"/>
                  </a:ext>
                </a:extLst>
              </a:tr>
            </a:tbl>
          </a:graphicData>
        </a:graphic>
      </p:graphicFrame>
    </p:spTree>
    <p:extLst>
      <p:ext uri="{BB962C8B-B14F-4D97-AF65-F5344CB8AC3E}">
        <p14:creationId xmlns:p14="http://schemas.microsoft.com/office/powerpoint/2010/main" val="241010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A0DBAB-7178-4D70-9BD0-E335324766E9}"/>
              </a:ext>
            </a:extLst>
          </p:cNvPr>
          <p:cNvSpPr>
            <a:spLocks noGrp="1"/>
          </p:cNvSpPr>
          <p:nvPr>
            <p:ph idx="1"/>
          </p:nvPr>
        </p:nvSpPr>
        <p:spPr>
          <a:xfrm>
            <a:off x="677334" y="331695"/>
            <a:ext cx="8596668" cy="5709668"/>
          </a:xfrm>
        </p:spPr>
        <p:txBody>
          <a:bodyPr/>
          <a:lstStyle/>
          <a:p>
            <a:pPr algn="just"/>
            <a:r>
              <a:rPr lang="en-US" b="1" dirty="0"/>
              <a:t>2. Client-Server Architecture</a:t>
            </a:r>
          </a:p>
          <a:p>
            <a:pPr marL="0" indent="0" algn="just">
              <a:buNone/>
            </a:pPr>
            <a:r>
              <a:rPr lang="en-US" b="1" dirty="0"/>
              <a:t>     (A)(</a:t>
            </a:r>
            <a:r>
              <a:rPr lang="en-US" dirty="0"/>
              <a:t>Two-Tier Architecture (2-Tier)</a:t>
            </a:r>
            <a:r>
              <a:rPr lang="en-US" b="1" dirty="0"/>
              <a:t>)</a:t>
            </a:r>
          </a:p>
          <a:p>
            <a:pPr algn="just"/>
            <a:r>
              <a:rPr lang="en-US" dirty="0"/>
              <a:t>This architecture divides the workload between two separate entities: the </a:t>
            </a:r>
            <a:r>
              <a:rPr lang="en-US" b="1" dirty="0"/>
              <a:t>Client</a:t>
            </a:r>
            <a:r>
              <a:rPr lang="en-US" dirty="0"/>
              <a:t> (user interface/application) and the </a:t>
            </a:r>
            <a:r>
              <a:rPr lang="en-US" b="1" dirty="0"/>
              <a:t>Server</a:t>
            </a:r>
            <a:r>
              <a:rPr lang="en-US" dirty="0"/>
              <a:t> (database processing and data storage).</a:t>
            </a:r>
          </a:p>
          <a:p>
            <a:pPr algn="just"/>
            <a:endParaRPr lang="en-US" dirty="0"/>
          </a:p>
        </p:txBody>
      </p:sp>
      <p:graphicFrame>
        <p:nvGraphicFramePr>
          <p:cNvPr id="4" name="Table 3">
            <a:extLst>
              <a:ext uri="{FF2B5EF4-FFF2-40B4-BE49-F238E27FC236}">
                <a16:creationId xmlns:a16="http://schemas.microsoft.com/office/drawing/2014/main" id="{41ADC7E1-0331-4CFE-8FD7-6A4AD4A4BF8C}"/>
              </a:ext>
            </a:extLst>
          </p:cNvPr>
          <p:cNvGraphicFramePr>
            <a:graphicFrameLocks noGrp="1"/>
          </p:cNvGraphicFramePr>
          <p:nvPr>
            <p:extLst>
              <p:ext uri="{D42A27DB-BD31-4B8C-83A1-F6EECF244321}">
                <p14:modId xmlns:p14="http://schemas.microsoft.com/office/powerpoint/2010/main" val="3266108373"/>
              </p:ext>
            </p:extLst>
          </p:nvPr>
        </p:nvGraphicFramePr>
        <p:xfrm>
          <a:off x="1068309" y="1794639"/>
          <a:ext cx="8205693" cy="4394200"/>
        </p:xfrm>
        <a:graphic>
          <a:graphicData uri="http://schemas.openxmlformats.org/drawingml/2006/table">
            <a:tbl>
              <a:tblPr firstRow="1" bandRow="1">
                <a:tableStyleId>{5C22544A-7EE6-4342-B048-85BDC9FD1C3A}</a:tableStyleId>
              </a:tblPr>
              <a:tblGrid>
                <a:gridCol w="2787027">
                  <a:extLst>
                    <a:ext uri="{9D8B030D-6E8A-4147-A177-3AD203B41FA5}">
                      <a16:colId xmlns:a16="http://schemas.microsoft.com/office/drawing/2014/main" val="2755066064"/>
                    </a:ext>
                  </a:extLst>
                </a:gridCol>
                <a:gridCol w="2709333">
                  <a:extLst>
                    <a:ext uri="{9D8B030D-6E8A-4147-A177-3AD203B41FA5}">
                      <a16:colId xmlns:a16="http://schemas.microsoft.com/office/drawing/2014/main" val="609676635"/>
                    </a:ext>
                  </a:extLst>
                </a:gridCol>
                <a:gridCol w="2709333">
                  <a:extLst>
                    <a:ext uri="{9D8B030D-6E8A-4147-A177-3AD203B41FA5}">
                      <a16:colId xmlns:a16="http://schemas.microsoft.com/office/drawing/2014/main" val="2234218630"/>
                    </a:ext>
                  </a:extLst>
                </a:gridCol>
              </a:tblGrid>
              <a:tr h="370840">
                <a:tc>
                  <a:txBody>
                    <a:bodyPr/>
                    <a:lstStyle/>
                    <a:p>
                      <a:r>
                        <a:rPr lang="en-US" dirty="0"/>
                        <a:t>Feature</a:t>
                      </a:r>
                    </a:p>
                  </a:txBody>
                  <a:tcPr/>
                </a:tc>
                <a:tc>
                  <a:txBody>
                    <a:bodyPr/>
                    <a:lstStyle/>
                    <a:p>
                      <a:r>
                        <a:rPr lang="en-US" dirty="0"/>
                        <a:t>Advantage</a:t>
                      </a:r>
                    </a:p>
                  </a:txBody>
                  <a:tcPr/>
                </a:tc>
                <a:tc>
                  <a:txBody>
                    <a:bodyPr/>
                    <a:lstStyle/>
                    <a:p>
                      <a:r>
                        <a:rPr lang="en-US" dirty="0"/>
                        <a:t>Limitation</a:t>
                      </a:r>
                    </a:p>
                  </a:txBody>
                  <a:tcPr/>
                </a:tc>
                <a:extLst>
                  <a:ext uri="{0D108BD9-81ED-4DB2-BD59-A6C34878D82A}">
                    <a16:rowId xmlns:a16="http://schemas.microsoft.com/office/drawing/2014/main" val="2824397654"/>
                  </a:ext>
                </a:extLst>
              </a:tr>
              <a:tr h="370840">
                <a:tc>
                  <a:txBody>
                    <a:bodyPr/>
                    <a:lstStyle/>
                    <a:p>
                      <a:r>
                        <a:rPr lang="en-US" dirty="0"/>
                        <a:t>Workload Distribution</a:t>
                      </a:r>
                    </a:p>
                  </a:txBody>
                  <a:tcPr/>
                </a:tc>
                <a:tc>
                  <a:txBody>
                    <a:bodyPr/>
                    <a:lstStyle/>
                    <a:p>
                      <a:pPr algn="just"/>
                      <a:r>
                        <a:rPr lang="en-US" dirty="0"/>
                        <a:t>The application logic and user interface reside on the client, while the data logic and storage reside on the server, improving performance over centralized systems.</a:t>
                      </a:r>
                    </a:p>
                  </a:txBody>
                  <a:tcPr/>
                </a:tc>
                <a:tc>
                  <a:txBody>
                    <a:bodyPr/>
                    <a:lstStyle/>
                    <a:p>
                      <a:pPr algn="just"/>
                      <a:r>
                        <a:rPr lang="en-US" b="1" dirty="0"/>
                        <a:t>Fat Client:</a:t>
                      </a:r>
                      <a:r>
                        <a:rPr lang="en-US" dirty="0"/>
                        <a:t> The client machine handles both the presentation logic and the application logic, making it difficult to update and maintain the application software.</a:t>
                      </a:r>
                    </a:p>
                  </a:txBody>
                  <a:tcPr/>
                </a:tc>
                <a:extLst>
                  <a:ext uri="{0D108BD9-81ED-4DB2-BD59-A6C34878D82A}">
                    <a16:rowId xmlns:a16="http://schemas.microsoft.com/office/drawing/2014/main" val="1187516428"/>
                  </a:ext>
                </a:extLst>
              </a:tr>
              <a:tr h="370840">
                <a:tc>
                  <a:txBody>
                    <a:bodyPr/>
                    <a:lstStyle/>
                    <a:p>
                      <a:r>
                        <a:rPr lang="en-US" dirty="0"/>
                        <a:t>Security</a:t>
                      </a:r>
                    </a:p>
                  </a:txBody>
                  <a:tcPr/>
                </a:tc>
                <a:tc>
                  <a:txBody>
                    <a:bodyPr/>
                    <a:lstStyle/>
                    <a:p>
                      <a:pPr algn="just"/>
                      <a:r>
                        <a:rPr lang="en-US" dirty="0"/>
                        <a:t>Improved security since direct access is required only to the database server.</a:t>
                      </a:r>
                    </a:p>
                  </a:txBody>
                  <a:tcPr/>
                </a:tc>
                <a:tc>
                  <a:txBody>
                    <a:bodyPr/>
                    <a:lstStyle/>
                    <a:p>
                      <a:pPr algn="just"/>
                      <a:r>
                        <a:rPr lang="en-US" b="1" dirty="0"/>
                        <a:t>High Traffic:</a:t>
                      </a:r>
                      <a:r>
                        <a:rPr lang="en-US" dirty="0"/>
                        <a:t> High network traffic because many requests (even simple ones) need direct interaction with the database server.</a:t>
                      </a:r>
                    </a:p>
                  </a:txBody>
                  <a:tcPr/>
                </a:tc>
                <a:extLst>
                  <a:ext uri="{0D108BD9-81ED-4DB2-BD59-A6C34878D82A}">
                    <a16:rowId xmlns:a16="http://schemas.microsoft.com/office/drawing/2014/main" val="4199535995"/>
                  </a:ext>
                </a:extLst>
              </a:tr>
            </a:tbl>
          </a:graphicData>
        </a:graphic>
      </p:graphicFrame>
    </p:spTree>
    <p:extLst>
      <p:ext uri="{BB962C8B-B14F-4D97-AF65-F5344CB8AC3E}">
        <p14:creationId xmlns:p14="http://schemas.microsoft.com/office/powerpoint/2010/main" val="1207329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1E30B8-AE05-4FCD-AB05-4AB90F7F0D4B}"/>
              </a:ext>
            </a:extLst>
          </p:cNvPr>
          <p:cNvSpPr>
            <a:spLocks noGrp="1"/>
          </p:cNvSpPr>
          <p:nvPr>
            <p:ph idx="1"/>
          </p:nvPr>
        </p:nvSpPr>
        <p:spPr>
          <a:xfrm>
            <a:off x="677334" y="484095"/>
            <a:ext cx="8596668" cy="5557268"/>
          </a:xfrm>
        </p:spPr>
        <p:txBody>
          <a:bodyPr/>
          <a:lstStyle/>
          <a:p>
            <a:pPr marL="0" indent="0" algn="just">
              <a:buNone/>
            </a:pPr>
            <a:r>
              <a:rPr lang="en-US" dirty="0"/>
              <a:t>    (B)Three-Tier Architecture (3-Tier)</a:t>
            </a:r>
          </a:p>
          <a:p>
            <a:pPr algn="just"/>
            <a:r>
              <a:rPr lang="en-US" dirty="0"/>
              <a:t>This architecture introduces an intermediate layer, the </a:t>
            </a:r>
            <a:r>
              <a:rPr lang="en-US" b="1" dirty="0"/>
              <a:t>Application Server</a:t>
            </a:r>
            <a:r>
              <a:rPr lang="en-US" dirty="0"/>
              <a:t>, between the client and the database server. This is the most common model for modern web applications.</a:t>
            </a:r>
          </a:p>
          <a:p>
            <a:pPr algn="just"/>
            <a:endParaRPr lang="en-US" dirty="0"/>
          </a:p>
          <a:p>
            <a:endParaRPr lang="en-US" dirty="0"/>
          </a:p>
        </p:txBody>
      </p:sp>
      <p:graphicFrame>
        <p:nvGraphicFramePr>
          <p:cNvPr id="4" name="Table 3">
            <a:extLst>
              <a:ext uri="{FF2B5EF4-FFF2-40B4-BE49-F238E27FC236}">
                <a16:creationId xmlns:a16="http://schemas.microsoft.com/office/drawing/2014/main" id="{21AEF73A-6457-4978-8231-36EA050AA721}"/>
              </a:ext>
            </a:extLst>
          </p:cNvPr>
          <p:cNvGraphicFramePr>
            <a:graphicFrameLocks noGrp="1"/>
          </p:cNvGraphicFramePr>
          <p:nvPr>
            <p:extLst>
              <p:ext uri="{D42A27DB-BD31-4B8C-83A1-F6EECF244321}">
                <p14:modId xmlns:p14="http://schemas.microsoft.com/office/powerpoint/2010/main" val="1780968153"/>
              </p:ext>
            </p:extLst>
          </p:nvPr>
        </p:nvGraphicFramePr>
        <p:xfrm>
          <a:off x="911668" y="1945640"/>
          <a:ext cx="8127999" cy="3937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28776993"/>
                    </a:ext>
                  </a:extLst>
                </a:gridCol>
                <a:gridCol w="2709333">
                  <a:extLst>
                    <a:ext uri="{9D8B030D-6E8A-4147-A177-3AD203B41FA5}">
                      <a16:colId xmlns:a16="http://schemas.microsoft.com/office/drawing/2014/main" val="589542916"/>
                    </a:ext>
                  </a:extLst>
                </a:gridCol>
                <a:gridCol w="2709333">
                  <a:extLst>
                    <a:ext uri="{9D8B030D-6E8A-4147-A177-3AD203B41FA5}">
                      <a16:colId xmlns:a16="http://schemas.microsoft.com/office/drawing/2014/main" val="323112434"/>
                    </a:ext>
                  </a:extLst>
                </a:gridCol>
              </a:tblGrid>
              <a:tr h="370840">
                <a:tc>
                  <a:txBody>
                    <a:bodyPr/>
                    <a:lstStyle/>
                    <a:p>
                      <a:pPr algn="just"/>
                      <a:r>
                        <a:rPr lang="en-US" dirty="0"/>
                        <a:t>Layer</a:t>
                      </a:r>
                    </a:p>
                  </a:txBody>
                  <a:tcPr/>
                </a:tc>
                <a:tc>
                  <a:txBody>
                    <a:bodyPr/>
                    <a:lstStyle/>
                    <a:p>
                      <a:pPr algn="just"/>
                      <a:r>
                        <a:rPr lang="en-US" dirty="0"/>
                        <a:t>Component</a:t>
                      </a:r>
                    </a:p>
                  </a:txBody>
                  <a:tcPr/>
                </a:tc>
                <a:tc>
                  <a:txBody>
                    <a:bodyPr/>
                    <a:lstStyle/>
                    <a:p>
                      <a:pPr algn="just"/>
                      <a:r>
                        <a:rPr lang="en-US" dirty="0"/>
                        <a:t>Function</a:t>
                      </a:r>
                    </a:p>
                  </a:txBody>
                  <a:tcPr/>
                </a:tc>
                <a:extLst>
                  <a:ext uri="{0D108BD9-81ED-4DB2-BD59-A6C34878D82A}">
                    <a16:rowId xmlns:a16="http://schemas.microsoft.com/office/drawing/2014/main" val="2454667295"/>
                  </a:ext>
                </a:extLst>
              </a:tr>
              <a:tr h="370840">
                <a:tc>
                  <a:txBody>
                    <a:bodyPr/>
                    <a:lstStyle/>
                    <a:p>
                      <a:pPr algn="just"/>
                      <a:r>
                        <a:rPr lang="en-US" dirty="0"/>
                        <a:t>1. Presentation Tier (Client)</a:t>
                      </a:r>
                    </a:p>
                  </a:txBody>
                  <a:tcPr/>
                </a:tc>
                <a:tc>
                  <a:txBody>
                    <a:bodyPr/>
                    <a:lstStyle/>
                    <a:p>
                      <a:pPr algn="just"/>
                      <a:r>
                        <a:rPr lang="en-US" dirty="0"/>
                        <a:t>User Interface (Web browser, desktop app)</a:t>
                      </a:r>
                    </a:p>
                  </a:txBody>
                  <a:tcPr/>
                </a:tc>
                <a:tc>
                  <a:txBody>
                    <a:bodyPr/>
                    <a:lstStyle/>
                    <a:p>
                      <a:pPr algn="just"/>
                      <a:r>
                        <a:rPr lang="en-US" dirty="0"/>
                        <a:t>Handles all user interaction and presentation logic.</a:t>
                      </a:r>
                    </a:p>
                  </a:txBody>
                  <a:tcPr/>
                </a:tc>
                <a:extLst>
                  <a:ext uri="{0D108BD9-81ED-4DB2-BD59-A6C34878D82A}">
                    <a16:rowId xmlns:a16="http://schemas.microsoft.com/office/drawing/2014/main" val="2025268368"/>
                  </a:ext>
                </a:extLst>
              </a:tr>
              <a:tr h="370840">
                <a:tc>
                  <a:txBody>
                    <a:bodyPr/>
                    <a:lstStyle/>
                    <a:p>
                      <a:pPr algn="just"/>
                      <a:r>
                        <a:rPr lang="en-US" dirty="0"/>
                        <a:t>2. Application Tier (Middle Tier)</a:t>
                      </a:r>
                    </a:p>
                  </a:txBody>
                  <a:tcPr/>
                </a:tc>
                <a:tc>
                  <a:txBody>
                    <a:bodyPr/>
                    <a:lstStyle/>
                    <a:p>
                      <a:pPr algn="just"/>
                      <a:r>
                        <a:rPr lang="en-US" dirty="0"/>
                        <a:t>Application Server/Web Server</a:t>
                      </a:r>
                    </a:p>
                  </a:txBody>
                  <a:tcPr/>
                </a:tc>
                <a:tc>
                  <a:txBody>
                    <a:bodyPr/>
                    <a:lstStyle/>
                    <a:p>
                      <a:pPr algn="just"/>
                      <a:r>
                        <a:rPr lang="en-US" dirty="0"/>
                        <a:t>Contains the </a:t>
                      </a:r>
                      <a:r>
                        <a:rPr lang="en-US" b="1" dirty="0"/>
                        <a:t>Business Logic</a:t>
                      </a:r>
                      <a:r>
                        <a:rPr lang="en-US" dirty="0"/>
                        <a:t> (the rules governing how data is handled, like calculations, validations).</a:t>
                      </a:r>
                    </a:p>
                  </a:txBody>
                  <a:tcPr/>
                </a:tc>
                <a:extLst>
                  <a:ext uri="{0D108BD9-81ED-4DB2-BD59-A6C34878D82A}">
                    <a16:rowId xmlns:a16="http://schemas.microsoft.com/office/drawing/2014/main" val="687191348"/>
                  </a:ext>
                </a:extLst>
              </a:tr>
              <a:tr h="370840">
                <a:tc>
                  <a:txBody>
                    <a:bodyPr/>
                    <a:lstStyle/>
                    <a:p>
                      <a:pPr algn="just"/>
                      <a:r>
                        <a:rPr lang="en-US" dirty="0"/>
                        <a:t>3. Data Tier (Server)</a:t>
                      </a:r>
                    </a:p>
                  </a:txBody>
                  <a:tcPr/>
                </a:tc>
                <a:tc>
                  <a:txBody>
                    <a:bodyPr/>
                    <a:lstStyle/>
                    <a:p>
                      <a:pPr algn="just"/>
                      <a:r>
                        <a:rPr lang="en-US" dirty="0"/>
                        <a:t>DBMS (Database Server)</a:t>
                      </a:r>
                    </a:p>
                  </a:txBody>
                  <a:tcPr/>
                </a:tc>
                <a:tc>
                  <a:txBody>
                    <a:bodyPr/>
                    <a:lstStyle/>
                    <a:p>
                      <a:pPr algn="just"/>
                      <a:r>
                        <a:rPr lang="en-US" dirty="0"/>
                        <a:t>Stores, manages, and provides access to the data.</a:t>
                      </a:r>
                    </a:p>
                  </a:txBody>
                  <a:tcPr/>
                </a:tc>
                <a:extLst>
                  <a:ext uri="{0D108BD9-81ED-4DB2-BD59-A6C34878D82A}">
                    <a16:rowId xmlns:a16="http://schemas.microsoft.com/office/drawing/2014/main" val="2659117062"/>
                  </a:ext>
                </a:extLst>
              </a:tr>
            </a:tbl>
          </a:graphicData>
        </a:graphic>
      </p:graphicFrame>
    </p:spTree>
    <p:extLst>
      <p:ext uri="{BB962C8B-B14F-4D97-AF65-F5344CB8AC3E}">
        <p14:creationId xmlns:p14="http://schemas.microsoft.com/office/powerpoint/2010/main" val="2159703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00BEE1-8E9E-41E3-BCB0-F987E0A51D21}"/>
              </a:ext>
            </a:extLst>
          </p:cNvPr>
          <p:cNvSpPr>
            <a:spLocks noGrp="1"/>
          </p:cNvSpPr>
          <p:nvPr>
            <p:ph idx="1"/>
          </p:nvPr>
        </p:nvSpPr>
        <p:spPr>
          <a:xfrm>
            <a:off x="677334" y="403413"/>
            <a:ext cx="8596668" cy="5637950"/>
          </a:xfrm>
        </p:spPr>
        <p:txBody>
          <a:bodyPr/>
          <a:lstStyle/>
          <a:p>
            <a:pPr algn="just"/>
            <a:endParaRPr lang="en-US" dirty="0"/>
          </a:p>
          <a:p>
            <a:pPr algn="just"/>
            <a:endParaRPr lang="en-US" dirty="0"/>
          </a:p>
        </p:txBody>
      </p:sp>
      <p:graphicFrame>
        <p:nvGraphicFramePr>
          <p:cNvPr id="4" name="Table 3">
            <a:extLst>
              <a:ext uri="{FF2B5EF4-FFF2-40B4-BE49-F238E27FC236}">
                <a16:creationId xmlns:a16="http://schemas.microsoft.com/office/drawing/2014/main" id="{6BAAAFED-E789-4F61-B406-73FC5A869ABD}"/>
              </a:ext>
            </a:extLst>
          </p:cNvPr>
          <p:cNvGraphicFramePr>
            <a:graphicFrameLocks noGrp="1"/>
          </p:cNvGraphicFramePr>
          <p:nvPr>
            <p:extLst>
              <p:ext uri="{D42A27DB-BD31-4B8C-83A1-F6EECF244321}">
                <p14:modId xmlns:p14="http://schemas.microsoft.com/office/powerpoint/2010/main" val="4148827886"/>
              </p:ext>
            </p:extLst>
          </p:nvPr>
        </p:nvGraphicFramePr>
        <p:xfrm>
          <a:off x="677334" y="519953"/>
          <a:ext cx="8447740" cy="4760259"/>
        </p:xfrm>
        <a:graphic>
          <a:graphicData uri="http://schemas.openxmlformats.org/drawingml/2006/table">
            <a:tbl>
              <a:tblPr firstRow="1" bandRow="1">
                <a:tableStyleId>{5C22544A-7EE6-4342-B048-85BDC9FD1C3A}</a:tableStyleId>
              </a:tblPr>
              <a:tblGrid>
                <a:gridCol w="1698313">
                  <a:extLst>
                    <a:ext uri="{9D8B030D-6E8A-4147-A177-3AD203B41FA5}">
                      <a16:colId xmlns:a16="http://schemas.microsoft.com/office/drawing/2014/main" val="1480058908"/>
                    </a:ext>
                  </a:extLst>
                </a:gridCol>
                <a:gridCol w="4040094">
                  <a:extLst>
                    <a:ext uri="{9D8B030D-6E8A-4147-A177-3AD203B41FA5}">
                      <a16:colId xmlns:a16="http://schemas.microsoft.com/office/drawing/2014/main" val="1059176166"/>
                    </a:ext>
                  </a:extLst>
                </a:gridCol>
                <a:gridCol w="2709333">
                  <a:extLst>
                    <a:ext uri="{9D8B030D-6E8A-4147-A177-3AD203B41FA5}">
                      <a16:colId xmlns:a16="http://schemas.microsoft.com/office/drawing/2014/main" val="921540114"/>
                    </a:ext>
                  </a:extLst>
                </a:gridCol>
              </a:tblGrid>
              <a:tr h="370863">
                <a:tc>
                  <a:txBody>
                    <a:bodyPr/>
                    <a:lstStyle/>
                    <a:p>
                      <a:pPr algn="just"/>
                      <a:r>
                        <a:rPr lang="en-US" dirty="0"/>
                        <a:t>Feature</a:t>
                      </a:r>
                    </a:p>
                  </a:txBody>
                  <a:tcPr/>
                </a:tc>
                <a:tc>
                  <a:txBody>
                    <a:bodyPr/>
                    <a:lstStyle/>
                    <a:p>
                      <a:pPr algn="just"/>
                      <a:r>
                        <a:rPr lang="en-US" dirty="0"/>
                        <a:t>Advantage</a:t>
                      </a:r>
                    </a:p>
                  </a:txBody>
                  <a:tcPr/>
                </a:tc>
                <a:tc>
                  <a:txBody>
                    <a:bodyPr/>
                    <a:lstStyle/>
                    <a:p>
                      <a:pPr algn="just"/>
                      <a:r>
                        <a:rPr lang="en-US" dirty="0"/>
                        <a:t>Limitation</a:t>
                      </a:r>
                    </a:p>
                  </a:txBody>
                  <a:tcPr/>
                </a:tc>
                <a:extLst>
                  <a:ext uri="{0D108BD9-81ED-4DB2-BD59-A6C34878D82A}">
                    <a16:rowId xmlns:a16="http://schemas.microsoft.com/office/drawing/2014/main" val="1320958887"/>
                  </a:ext>
                </a:extLst>
              </a:tr>
              <a:tr h="1463132">
                <a:tc>
                  <a:txBody>
                    <a:bodyPr/>
                    <a:lstStyle/>
                    <a:p>
                      <a:pPr algn="just"/>
                      <a:r>
                        <a:rPr lang="en-US" dirty="0"/>
                        <a:t>Scalability</a:t>
                      </a:r>
                    </a:p>
                  </a:txBody>
                  <a:tcPr/>
                </a:tc>
                <a:tc>
                  <a:txBody>
                    <a:bodyPr/>
                    <a:lstStyle/>
                    <a:p>
                      <a:pPr algn="just"/>
                      <a:r>
                        <a:rPr lang="en-US" dirty="0"/>
                        <a:t>Excellent </a:t>
                      </a:r>
                      <a:r>
                        <a:rPr lang="en-US" b="1" dirty="0"/>
                        <a:t>Scalability</a:t>
                      </a:r>
                      <a:r>
                        <a:rPr lang="en-US" dirty="0"/>
                        <a:t> and </a:t>
                      </a:r>
                      <a:r>
                        <a:rPr lang="en-US" b="1" dirty="0"/>
                        <a:t>Performance</a:t>
                      </a:r>
                      <a:r>
                        <a:rPr lang="en-US" dirty="0"/>
                        <a:t> as the Application Server handles connection pooling and complex logic, reducing the load on the database server.</a:t>
                      </a:r>
                    </a:p>
                  </a:txBody>
                  <a:tcPr/>
                </a:tc>
                <a:tc>
                  <a:txBody>
                    <a:bodyPr/>
                    <a:lstStyle/>
                    <a:p>
                      <a:pPr algn="just"/>
                      <a:r>
                        <a:rPr lang="en-US" b="1" dirty="0"/>
                        <a:t>Increased Complexity:</a:t>
                      </a:r>
                      <a:r>
                        <a:rPr lang="en-US" dirty="0"/>
                        <a:t> More layers mean greater setup and maintenance complexity.</a:t>
                      </a:r>
                    </a:p>
                  </a:txBody>
                  <a:tcPr/>
                </a:tc>
                <a:extLst>
                  <a:ext uri="{0D108BD9-81ED-4DB2-BD59-A6C34878D82A}">
                    <a16:rowId xmlns:a16="http://schemas.microsoft.com/office/drawing/2014/main" val="321254542"/>
                  </a:ext>
                </a:extLst>
              </a:tr>
              <a:tr h="1463132">
                <a:tc>
                  <a:txBody>
                    <a:bodyPr/>
                    <a:lstStyle/>
                    <a:p>
                      <a:pPr algn="just"/>
                      <a:r>
                        <a:rPr lang="en-US" dirty="0"/>
                        <a:t>Maintenance</a:t>
                      </a:r>
                    </a:p>
                  </a:txBody>
                  <a:tcPr/>
                </a:tc>
                <a:tc>
                  <a:txBody>
                    <a:bodyPr/>
                    <a:lstStyle/>
                    <a:p>
                      <a:pPr algn="just"/>
                      <a:r>
                        <a:rPr lang="en-US" b="1" dirty="0"/>
                        <a:t>Thin Client:</a:t>
                      </a:r>
                      <a:r>
                        <a:rPr lang="en-US" dirty="0"/>
                        <a:t> The client only handles presentation, making updates simpler, as only the middle-tier logic needs changing.</a:t>
                      </a:r>
                    </a:p>
                  </a:txBody>
                  <a:tcPr/>
                </a:tc>
                <a:tc>
                  <a:txBody>
                    <a:bodyPr/>
                    <a:lstStyle/>
                    <a:p>
                      <a:pPr algn="just"/>
                      <a:r>
                        <a:rPr lang="en-US" b="1" dirty="0"/>
                        <a:t>Higher Cost:</a:t>
                      </a:r>
                      <a:r>
                        <a:rPr lang="en-US" dirty="0"/>
                        <a:t> Requires additional hardware and software for the dedicated Application Server layer.</a:t>
                      </a:r>
                    </a:p>
                  </a:txBody>
                  <a:tcPr/>
                </a:tc>
                <a:extLst>
                  <a:ext uri="{0D108BD9-81ED-4DB2-BD59-A6C34878D82A}">
                    <a16:rowId xmlns:a16="http://schemas.microsoft.com/office/drawing/2014/main" val="3112808507"/>
                  </a:ext>
                </a:extLst>
              </a:tr>
              <a:tr h="1463132">
                <a:tc>
                  <a:txBody>
                    <a:bodyPr/>
                    <a:lstStyle/>
                    <a:p>
                      <a:pPr algn="just"/>
                      <a:r>
                        <a:rPr lang="en-US" dirty="0"/>
                        <a:t>Security</a:t>
                      </a:r>
                    </a:p>
                  </a:txBody>
                  <a:tcPr/>
                </a:tc>
                <a:tc>
                  <a:txBody>
                    <a:bodyPr/>
                    <a:lstStyle/>
                    <a:p>
                      <a:pPr algn="just"/>
                      <a:r>
                        <a:rPr lang="en-US" dirty="0"/>
                        <a:t>Enhanced </a:t>
                      </a:r>
                      <a:r>
                        <a:rPr lang="en-US" b="1" dirty="0"/>
                        <a:t>Security</a:t>
                      </a:r>
                      <a:r>
                        <a:rPr lang="en-US" dirty="0"/>
                        <a:t> because the client never connects directly to the database server; the middle tier acts as a security filter.</a:t>
                      </a:r>
                    </a:p>
                  </a:txBody>
                  <a:tcPr/>
                </a:tc>
                <a:tc>
                  <a:txBody>
                    <a:bodyPr/>
                    <a:lstStyle/>
                    <a:p>
                      <a:pPr algn="just"/>
                      <a:r>
                        <a:rPr lang="en-US" dirty="0"/>
                        <a:t>Slower response for extremely simple queries due to the extra network hop through the middle layer.</a:t>
                      </a:r>
                    </a:p>
                  </a:txBody>
                  <a:tcPr/>
                </a:tc>
                <a:extLst>
                  <a:ext uri="{0D108BD9-81ED-4DB2-BD59-A6C34878D82A}">
                    <a16:rowId xmlns:a16="http://schemas.microsoft.com/office/drawing/2014/main" val="2369062796"/>
                  </a:ext>
                </a:extLst>
              </a:tr>
            </a:tbl>
          </a:graphicData>
        </a:graphic>
      </p:graphicFrame>
    </p:spTree>
    <p:extLst>
      <p:ext uri="{BB962C8B-B14F-4D97-AF65-F5344CB8AC3E}">
        <p14:creationId xmlns:p14="http://schemas.microsoft.com/office/powerpoint/2010/main" val="1881121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C2A98-7A3F-476F-BC32-D58F7DFE6FA0}"/>
              </a:ext>
            </a:extLst>
          </p:cNvPr>
          <p:cNvSpPr>
            <a:spLocks noGrp="1"/>
          </p:cNvSpPr>
          <p:nvPr>
            <p:ph type="title"/>
          </p:nvPr>
        </p:nvSpPr>
        <p:spPr>
          <a:xfrm>
            <a:off x="677334" y="609600"/>
            <a:ext cx="8596668" cy="923365"/>
          </a:xfrm>
        </p:spPr>
        <p:txBody>
          <a:bodyPr>
            <a:normAutofit/>
          </a:bodyPr>
          <a:lstStyle/>
          <a:p>
            <a:r>
              <a:rPr lang="en-US" sz="2700" dirty="0"/>
              <a:t>(8) Draw and explain the 3-tier ANSI-SPARC architecture in detail. </a:t>
            </a:r>
          </a:p>
        </p:txBody>
      </p:sp>
      <p:sp>
        <p:nvSpPr>
          <p:cNvPr id="3" name="Content Placeholder 2">
            <a:extLst>
              <a:ext uri="{FF2B5EF4-FFF2-40B4-BE49-F238E27FC236}">
                <a16:creationId xmlns:a16="http://schemas.microsoft.com/office/drawing/2014/main" id="{51B4FA67-19DE-431D-8B3E-3781727DE1CA}"/>
              </a:ext>
            </a:extLst>
          </p:cNvPr>
          <p:cNvSpPr>
            <a:spLocks noGrp="1"/>
          </p:cNvSpPr>
          <p:nvPr>
            <p:ph idx="1"/>
          </p:nvPr>
        </p:nvSpPr>
        <p:spPr>
          <a:xfrm>
            <a:off x="677334" y="1532965"/>
            <a:ext cx="8596668" cy="4508397"/>
          </a:xfrm>
        </p:spPr>
        <p:txBody>
          <a:bodyPr>
            <a:normAutofit/>
          </a:bodyPr>
          <a:lstStyle/>
          <a:p>
            <a:pPr algn="just"/>
            <a:r>
              <a:rPr lang="en-US" dirty="0"/>
              <a:t>The ANSI/SPARC architecture, proposed by the American National Standards Institute's Standards Planning and Requirements Committee, defines three distinct levels of data abstraction to provide data independence and facilitate database design and management.</a:t>
            </a:r>
          </a:p>
          <a:p>
            <a:pPr algn="just"/>
            <a:r>
              <a:rPr lang="en-US" dirty="0"/>
              <a:t>The ANSI-SPARC model, or three-level architecture, is a conceptual framework for database management systems (DBMS) proposing three distinct levels of data abstraction: External, Conceptual, and Internal.</a:t>
            </a:r>
          </a:p>
          <a:p>
            <a:pPr algn="just"/>
            <a:r>
              <a:rPr lang="en-US" dirty="0"/>
              <a:t>It aims to provide data independence by separating how data is viewed by users (external) from the overall data structure (conceptual) and its physical storage (internal).</a:t>
            </a:r>
          </a:p>
          <a:p>
            <a:pPr algn="just"/>
            <a:r>
              <a:rPr lang="en-US" dirty="0"/>
              <a:t>This architecture allows changes at one level, such as how data is stored physically, without impacting users at higher levels.</a:t>
            </a:r>
          </a:p>
        </p:txBody>
      </p:sp>
    </p:spTree>
    <p:extLst>
      <p:ext uri="{BB962C8B-B14F-4D97-AF65-F5344CB8AC3E}">
        <p14:creationId xmlns:p14="http://schemas.microsoft.com/office/powerpoint/2010/main" val="2675947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9D0744-A89B-4C74-BAF5-78C62D77143B}"/>
              </a:ext>
            </a:extLst>
          </p:cNvPr>
          <p:cNvSpPr>
            <a:spLocks noGrp="1"/>
          </p:cNvSpPr>
          <p:nvPr>
            <p:ph idx="1"/>
          </p:nvPr>
        </p:nvSpPr>
        <p:spPr>
          <a:xfrm>
            <a:off x="243067" y="1"/>
            <a:ext cx="9826908" cy="6609144"/>
          </a:xfrm>
        </p:spPr>
        <p:txBody>
          <a:bodyPr>
            <a:normAutofit fontScale="92500" lnSpcReduction="10000"/>
          </a:bodyPr>
          <a:lstStyle/>
          <a:p>
            <a:pPr algn="just"/>
            <a:r>
              <a:rPr lang="en-US" sz="2100" b="1" dirty="0"/>
              <a:t>External level-</a:t>
            </a:r>
          </a:p>
          <a:p>
            <a:pPr algn="just"/>
            <a:r>
              <a:rPr lang="en-US" dirty="0"/>
              <a:t>This is the highest level and closest to the user, where data is presented through customized "views" or user interfaces.</a:t>
            </a:r>
          </a:p>
          <a:p>
            <a:pPr algn="just"/>
            <a:r>
              <a:rPr lang="en-US" dirty="0"/>
              <a:t>Each user interacts with a specific view of the database that is relevant to their needs, hiding irrelevant or sensitive information.</a:t>
            </a:r>
          </a:p>
          <a:p>
            <a:pPr algn="just"/>
            <a:r>
              <a:rPr lang="en-US" dirty="0"/>
              <a:t>Example: Think of it as different department members in a company seeing only the information they need from a large central database.</a:t>
            </a:r>
          </a:p>
          <a:p>
            <a:pPr algn="just"/>
            <a:r>
              <a:rPr lang="en-US" sz="2100" b="1" dirty="0"/>
              <a:t>Conceptual level-</a:t>
            </a:r>
          </a:p>
          <a:p>
            <a:pPr algn="just"/>
            <a:r>
              <a:rPr lang="en-US" dirty="0"/>
              <a:t>This level describes the entire database globally, including data entities, relationships between them, and constraints.</a:t>
            </a:r>
          </a:p>
          <a:p>
            <a:pPr algn="just"/>
            <a:r>
              <a:rPr lang="en-US" dirty="0"/>
              <a:t>It provides a common community view of the data and ensures data consistency and integrity across the entire database, acting as a bridge between the external and internal levels.</a:t>
            </a:r>
          </a:p>
          <a:p>
            <a:pPr algn="just"/>
            <a:r>
              <a:rPr lang="en-US" dirty="0"/>
              <a:t>Changes to the physical storage or external views don't affect the conceptual level , and changes to the conceptual level can be made without altering user views.</a:t>
            </a:r>
          </a:p>
          <a:p>
            <a:r>
              <a:rPr lang="en-US" sz="2100" b="1" dirty="0"/>
              <a:t>Internal Level (Physical Level)-</a:t>
            </a:r>
          </a:p>
          <a:p>
            <a:r>
              <a:rPr lang="en-US" dirty="0"/>
              <a:t>This is the lowest level, describing how the data is physically stored on storage devices like hard disks.</a:t>
            </a:r>
          </a:p>
          <a:p>
            <a:r>
              <a:rPr lang="en-US" dirty="0"/>
              <a:t>It details the actual data structures, file organization, indexing, and access methods used by the DBMS.</a:t>
            </a:r>
          </a:p>
          <a:p>
            <a:r>
              <a:rPr lang="en-US" dirty="0"/>
              <a:t>Changes at this level, such as upgrading storage hardware, should not affect the higher conceptual and external levels.</a:t>
            </a:r>
          </a:p>
        </p:txBody>
      </p:sp>
    </p:spTree>
    <p:extLst>
      <p:ext uri="{BB962C8B-B14F-4D97-AF65-F5344CB8AC3E}">
        <p14:creationId xmlns:p14="http://schemas.microsoft.com/office/powerpoint/2010/main" val="1799698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261E-9810-412F-87C5-B244EE63FB15}"/>
              </a:ext>
            </a:extLst>
          </p:cNvPr>
          <p:cNvSpPr>
            <a:spLocks noGrp="1"/>
          </p:cNvSpPr>
          <p:nvPr>
            <p:ph type="title"/>
          </p:nvPr>
        </p:nvSpPr>
        <p:spPr>
          <a:xfrm>
            <a:off x="677334" y="609600"/>
            <a:ext cx="8596668" cy="824753"/>
          </a:xfrm>
        </p:spPr>
        <p:txBody>
          <a:bodyPr/>
          <a:lstStyle/>
          <a:p>
            <a:r>
              <a:rPr lang="en-US" dirty="0"/>
              <a:t>ANSI/SPARC Database Architecture</a:t>
            </a:r>
          </a:p>
        </p:txBody>
      </p:sp>
      <p:pic>
        <p:nvPicPr>
          <p:cNvPr id="5" name="Content Placeholder 4">
            <a:extLst>
              <a:ext uri="{FF2B5EF4-FFF2-40B4-BE49-F238E27FC236}">
                <a16:creationId xmlns:a16="http://schemas.microsoft.com/office/drawing/2014/main" id="{D9812E47-100F-49BA-9A07-B80E077BAF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2274" y="1515036"/>
            <a:ext cx="7580056" cy="4526990"/>
          </a:xfrm>
        </p:spPr>
      </p:pic>
    </p:spTree>
    <p:extLst>
      <p:ext uri="{BB962C8B-B14F-4D97-AF65-F5344CB8AC3E}">
        <p14:creationId xmlns:p14="http://schemas.microsoft.com/office/powerpoint/2010/main" val="2885835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A8F81-3473-4C69-9E08-16E1A22A006E}"/>
              </a:ext>
            </a:extLst>
          </p:cNvPr>
          <p:cNvSpPr>
            <a:spLocks noGrp="1"/>
          </p:cNvSpPr>
          <p:nvPr>
            <p:ph type="title"/>
          </p:nvPr>
        </p:nvSpPr>
        <p:spPr>
          <a:xfrm>
            <a:off x="677334" y="609601"/>
            <a:ext cx="8596668" cy="968188"/>
          </a:xfrm>
        </p:spPr>
        <p:txBody>
          <a:bodyPr>
            <a:normAutofit/>
          </a:bodyPr>
          <a:lstStyle/>
          <a:p>
            <a:pPr algn="just"/>
            <a:r>
              <a:rPr lang="en-US" sz="2700" dirty="0"/>
              <a:t>(9)Mention the advantages of using Three-Tier Architecture. </a:t>
            </a:r>
          </a:p>
        </p:txBody>
      </p:sp>
      <p:sp>
        <p:nvSpPr>
          <p:cNvPr id="3" name="Content Placeholder 2">
            <a:extLst>
              <a:ext uri="{FF2B5EF4-FFF2-40B4-BE49-F238E27FC236}">
                <a16:creationId xmlns:a16="http://schemas.microsoft.com/office/drawing/2014/main" id="{76AB0EDD-290E-48EA-9105-BAFBDDB64871}"/>
              </a:ext>
            </a:extLst>
          </p:cNvPr>
          <p:cNvSpPr>
            <a:spLocks noGrp="1"/>
          </p:cNvSpPr>
          <p:nvPr>
            <p:ph idx="1"/>
          </p:nvPr>
        </p:nvSpPr>
        <p:spPr>
          <a:xfrm>
            <a:off x="677334" y="1685365"/>
            <a:ext cx="8596668" cy="4355997"/>
          </a:xfrm>
        </p:spPr>
        <p:txBody>
          <a:bodyPr>
            <a:normAutofit/>
          </a:bodyPr>
          <a:lstStyle/>
          <a:p>
            <a:pPr algn="just"/>
            <a:r>
              <a:rPr lang="en-US" dirty="0"/>
              <a:t>The </a:t>
            </a:r>
            <a:r>
              <a:rPr lang="en-US" b="1" dirty="0"/>
              <a:t>Three-Tier Architecture</a:t>
            </a:r>
            <a:r>
              <a:rPr lang="en-US" dirty="0"/>
              <a:t> (also known as the 3-Tier Client-Server Architecture) is the most preferred model for large-scale, modern web and enterprise applications.</a:t>
            </a:r>
          </a:p>
          <a:p>
            <a:pPr algn="just"/>
            <a:endParaRPr lang="en-US" dirty="0"/>
          </a:p>
          <a:p>
            <a:pPr algn="just"/>
            <a:r>
              <a:rPr lang="en-US" sz="2700" b="1" dirty="0"/>
              <a:t>Advantage :</a:t>
            </a:r>
          </a:p>
          <a:p>
            <a:pPr marL="0" indent="0" algn="just">
              <a:buNone/>
            </a:pPr>
            <a:endParaRPr lang="en-US" sz="2700" b="1" dirty="0"/>
          </a:p>
          <a:p>
            <a:pPr algn="just"/>
            <a:r>
              <a:rPr lang="en-US" b="1" dirty="0"/>
              <a:t>Enhanced Scalability :	</a:t>
            </a:r>
          </a:p>
          <a:p>
            <a:pPr algn="just"/>
            <a:r>
              <a:rPr lang="en-US" dirty="0"/>
              <a:t>The middle-tier (</a:t>
            </a:r>
            <a:r>
              <a:rPr lang="en-US" b="1" dirty="0"/>
              <a:t>Application Server</a:t>
            </a:r>
            <a:r>
              <a:rPr lang="en-US" dirty="0"/>
              <a:t>) handles the business logic and manages connections to the database. This distribution of tasks reduces the load on the database server, allowing the system to handle a significantly larger number of users and transactions by adding more application servers.</a:t>
            </a:r>
          </a:p>
        </p:txBody>
      </p:sp>
    </p:spTree>
    <p:extLst>
      <p:ext uri="{BB962C8B-B14F-4D97-AF65-F5344CB8AC3E}">
        <p14:creationId xmlns:p14="http://schemas.microsoft.com/office/powerpoint/2010/main" val="41695894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CB831B-DCC8-4409-BB5D-8534B1A81EE8}"/>
              </a:ext>
            </a:extLst>
          </p:cNvPr>
          <p:cNvSpPr>
            <a:spLocks noGrp="1"/>
          </p:cNvSpPr>
          <p:nvPr>
            <p:ph idx="1"/>
          </p:nvPr>
        </p:nvSpPr>
        <p:spPr>
          <a:xfrm>
            <a:off x="677334" y="107577"/>
            <a:ext cx="8596668" cy="6624918"/>
          </a:xfrm>
        </p:spPr>
        <p:txBody>
          <a:bodyPr>
            <a:normAutofit lnSpcReduction="10000"/>
          </a:bodyPr>
          <a:lstStyle/>
          <a:p>
            <a:pPr algn="just"/>
            <a:r>
              <a:rPr lang="en-US" b="1" dirty="0"/>
              <a:t>Improved Security :</a:t>
            </a:r>
          </a:p>
          <a:p>
            <a:pPr algn="just"/>
            <a:r>
              <a:rPr lang="en-US" dirty="0"/>
              <a:t>The client (Presentation Tier) never communicates directly with the database server (Data Tier). The Application Server acts as a middleman and security filter, preventing direct SQL injection or unauthorized access to the data.</a:t>
            </a:r>
          </a:p>
          <a:p>
            <a:pPr marL="0" indent="0" algn="just">
              <a:buNone/>
            </a:pPr>
            <a:endParaRPr lang="en-US" dirty="0"/>
          </a:p>
          <a:p>
            <a:pPr algn="just"/>
            <a:r>
              <a:rPr lang="en-US" b="1" dirty="0"/>
              <a:t>Easier Maintainability and Updates :</a:t>
            </a:r>
          </a:p>
          <a:p>
            <a:pPr algn="just"/>
            <a:r>
              <a:rPr lang="en-US" dirty="0"/>
              <a:t>The separation of application logic (Middle Tier) from the user interface (Presentation Tier) creates a "thin client." If business rules change, only the code on the Application Server needs to be updated, without requiring updates to be deployed on every user's machine.</a:t>
            </a:r>
            <a:endParaRPr lang="en-US" b="1" dirty="0"/>
          </a:p>
          <a:p>
            <a:pPr algn="just"/>
            <a:endParaRPr lang="en-US" b="1" dirty="0"/>
          </a:p>
          <a:p>
            <a:pPr algn="just"/>
            <a:r>
              <a:rPr lang="en-US" b="1" dirty="0"/>
              <a:t>Increased Flexibility :</a:t>
            </a:r>
          </a:p>
          <a:p>
            <a:pPr algn="just"/>
            <a:r>
              <a:rPr lang="en-US" dirty="0"/>
              <a:t>Different clients (e.g., web browsers, mobile apps, desktop clients) can use the exact same business logic residing on the Middle Tier, promoting code reuse and making it easier to integrate new technologies.</a:t>
            </a:r>
          </a:p>
          <a:p>
            <a:pPr algn="just"/>
            <a:endParaRPr lang="en-US" b="1" dirty="0"/>
          </a:p>
          <a:p>
            <a:pPr algn="just"/>
            <a:r>
              <a:rPr lang="en-US" b="1" dirty="0"/>
              <a:t>Better Performance :</a:t>
            </a:r>
          </a:p>
          <a:p>
            <a:pPr algn="just"/>
            <a:r>
              <a:rPr lang="en-US" dirty="0"/>
              <a:t>The Application Server can implement techniques like </a:t>
            </a:r>
            <a:r>
              <a:rPr lang="en-US" b="1" dirty="0"/>
              <a:t>caching</a:t>
            </a:r>
            <a:r>
              <a:rPr lang="en-US" dirty="0"/>
              <a:t> and </a:t>
            </a:r>
            <a:r>
              <a:rPr lang="en-US" b="1" dirty="0"/>
              <a:t>connection pooling</a:t>
            </a:r>
            <a:r>
              <a:rPr lang="en-US" dirty="0"/>
              <a:t> to optimize and reuse database connections, resulting in faster response times for users.</a:t>
            </a:r>
            <a:endParaRPr lang="en-US" b="1" dirty="0"/>
          </a:p>
        </p:txBody>
      </p:sp>
    </p:spTree>
    <p:extLst>
      <p:ext uri="{BB962C8B-B14F-4D97-AF65-F5344CB8AC3E}">
        <p14:creationId xmlns:p14="http://schemas.microsoft.com/office/powerpoint/2010/main" val="991370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000D6-5EE5-4C77-8F8F-8F5C4D3B7904}"/>
              </a:ext>
            </a:extLst>
          </p:cNvPr>
          <p:cNvSpPr>
            <a:spLocks noGrp="1"/>
          </p:cNvSpPr>
          <p:nvPr>
            <p:ph type="title"/>
          </p:nvPr>
        </p:nvSpPr>
        <p:spPr>
          <a:xfrm>
            <a:off x="677334" y="609600"/>
            <a:ext cx="8596668" cy="968188"/>
          </a:xfrm>
        </p:spPr>
        <p:txBody>
          <a:bodyPr>
            <a:normAutofit/>
          </a:bodyPr>
          <a:lstStyle/>
          <a:p>
            <a:r>
              <a:rPr lang="en-US" sz="2700" dirty="0"/>
              <a:t>(10) What is data independence? Explain two kinds of data independence. </a:t>
            </a:r>
          </a:p>
        </p:txBody>
      </p:sp>
      <p:sp>
        <p:nvSpPr>
          <p:cNvPr id="3" name="Content Placeholder 2">
            <a:extLst>
              <a:ext uri="{FF2B5EF4-FFF2-40B4-BE49-F238E27FC236}">
                <a16:creationId xmlns:a16="http://schemas.microsoft.com/office/drawing/2014/main" id="{2F3D0812-17FD-4839-B4D3-D1AC55F2D48F}"/>
              </a:ext>
            </a:extLst>
          </p:cNvPr>
          <p:cNvSpPr>
            <a:spLocks noGrp="1"/>
          </p:cNvSpPr>
          <p:nvPr>
            <p:ph idx="1"/>
          </p:nvPr>
        </p:nvSpPr>
        <p:spPr>
          <a:xfrm>
            <a:off x="677334" y="1712259"/>
            <a:ext cx="8596668" cy="4329103"/>
          </a:xfrm>
        </p:spPr>
        <p:txBody>
          <a:bodyPr>
            <a:normAutofit lnSpcReduction="10000"/>
          </a:bodyPr>
          <a:lstStyle/>
          <a:p>
            <a:r>
              <a:rPr lang="en-US" dirty="0"/>
              <a:t>Logical Data Independence: The capacity to change the conceptual schema without having to change the external schemas and their application programs.</a:t>
            </a:r>
          </a:p>
          <a:p>
            <a:r>
              <a:rPr lang="en-US" dirty="0"/>
              <a:t>Physical Data Independence: The capacity to change the internal schema wit out having to change the conceptual schema.</a:t>
            </a:r>
          </a:p>
          <a:p>
            <a:endParaRPr lang="en-US" dirty="0"/>
          </a:p>
          <a:p>
            <a:r>
              <a:rPr lang="en-US" b="1" dirty="0"/>
              <a:t>1. Physical Data Independence :</a:t>
            </a:r>
          </a:p>
          <a:p>
            <a:r>
              <a:rPr lang="en-US" b="1" dirty="0"/>
              <a:t>Definition:</a:t>
            </a:r>
            <a:r>
              <a:rPr lang="en-US" dirty="0"/>
              <a:t> It is the ability to change the </a:t>
            </a:r>
            <a:r>
              <a:rPr lang="en-US" b="1" dirty="0"/>
              <a:t>physical level</a:t>
            </a:r>
            <a:r>
              <a:rPr lang="en-US" dirty="0"/>
              <a:t> (internal schema) of the database without requiring changes to the </a:t>
            </a:r>
            <a:r>
              <a:rPr lang="en-US" b="1" dirty="0"/>
              <a:t>conceptual level</a:t>
            </a:r>
            <a:r>
              <a:rPr lang="en-US" dirty="0"/>
              <a:t> (logical schema) or the external view.</a:t>
            </a:r>
          </a:p>
          <a:p>
            <a:r>
              <a:rPr lang="en-US" b="1" dirty="0"/>
              <a:t>In Simple Terms:</a:t>
            </a:r>
            <a:r>
              <a:rPr lang="en-US" dirty="0"/>
              <a:t> You can change </a:t>
            </a:r>
            <a:r>
              <a:rPr lang="en-US" i="1" dirty="0"/>
              <a:t>how</a:t>
            </a:r>
            <a:r>
              <a:rPr lang="en-US" dirty="0"/>
              <a:t> the data is actually stored on the disk (e.g., changing file organization, switching from one type of storage device to another, changing indexing methods) without having to rewrite or modify the application programs or the way the data is logically perceived.</a:t>
            </a:r>
            <a:endParaRPr lang="en-US" b="1" dirty="0"/>
          </a:p>
        </p:txBody>
      </p:sp>
    </p:spTree>
    <p:extLst>
      <p:ext uri="{BB962C8B-B14F-4D97-AF65-F5344CB8AC3E}">
        <p14:creationId xmlns:p14="http://schemas.microsoft.com/office/powerpoint/2010/main" val="2354024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DD0A24F-596D-489C-BD3D-B9004592040B}"/>
              </a:ext>
            </a:extLst>
          </p:cNvPr>
          <p:cNvGraphicFramePr>
            <a:graphicFrameLocks noGrp="1"/>
          </p:cNvGraphicFramePr>
          <p:nvPr>
            <p:ph idx="1"/>
            <p:extLst>
              <p:ext uri="{D42A27DB-BD31-4B8C-83A1-F6EECF244321}">
                <p14:modId xmlns:p14="http://schemas.microsoft.com/office/powerpoint/2010/main" val="2834239720"/>
              </p:ext>
            </p:extLst>
          </p:nvPr>
        </p:nvGraphicFramePr>
        <p:xfrm>
          <a:off x="668899" y="295462"/>
          <a:ext cx="8596312" cy="2291080"/>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1957464301"/>
                    </a:ext>
                  </a:extLst>
                </a:gridCol>
                <a:gridCol w="4298156">
                  <a:extLst>
                    <a:ext uri="{9D8B030D-6E8A-4147-A177-3AD203B41FA5}">
                      <a16:colId xmlns:a16="http://schemas.microsoft.com/office/drawing/2014/main" val="3711979689"/>
                    </a:ext>
                  </a:extLst>
                </a:gridCol>
              </a:tblGrid>
              <a:tr h="370840">
                <a:tc>
                  <a:txBody>
                    <a:bodyPr/>
                    <a:lstStyle/>
                    <a:p>
                      <a:pPr algn="just"/>
                      <a:r>
                        <a:rPr lang="en-US" dirty="0"/>
                        <a:t>Change at Physical Level</a:t>
                      </a:r>
                    </a:p>
                  </a:txBody>
                  <a:tcPr anchor="ctr"/>
                </a:tc>
                <a:tc>
                  <a:txBody>
                    <a:bodyPr/>
                    <a:lstStyle/>
                    <a:p>
                      <a:pPr algn="just"/>
                      <a:r>
                        <a:rPr lang="en-US" dirty="0"/>
                        <a:t>No Impact on Higher Level</a:t>
                      </a:r>
                    </a:p>
                  </a:txBody>
                  <a:tcPr anchor="ctr"/>
                </a:tc>
                <a:extLst>
                  <a:ext uri="{0D108BD9-81ED-4DB2-BD59-A6C34878D82A}">
                    <a16:rowId xmlns:a16="http://schemas.microsoft.com/office/drawing/2014/main" val="1186111472"/>
                  </a:ext>
                </a:extLst>
              </a:tr>
              <a:tr h="370840">
                <a:tc>
                  <a:txBody>
                    <a:bodyPr/>
                    <a:lstStyle/>
                    <a:p>
                      <a:pPr algn="just"/>
                      <a:r>
                        <a:rPr lang="en-US"/>
                        <a:t>Changing file organization (e.g., from sequential to indexed)</a:t>
                      </a:r>
                    </a:p>
                  </a:txBody>
                  <a:tcPr anchor="ctr"/>
                </a:tc>
                <a:tc>
                  <a:txBody>
                    <a:bodyPr/>
                    <a:lstStyle/>
                    <a:p>
                      <a:pPr algn="just"/>
                      <a:r>
                        <a:rPr lang="en-US"/>
                        <a:t>Application programs and logical structure remain unchanged.</a:t>
                      </a:r>
                    </a:p>
                  </a:txBody>
                  <a:tcPr anchor="ctr"/>
                </a:tc>
                <a:extLst>
                  <a:ext uri="{0D108BD9-81ED-4DB2-BD59-A6C34878D82A}">
                    <a16:rowId xmlns:a16="http://schemas.microsoft.com/office/drawing/2014/main" val="2749843728"/>
                  </a:ext>
                </a:extLst>
              </a:tr>
              <a:tr h="370840">
                <a:tc>
                  <a:txBody>
                    <a:bodyPr/>
                    <a:lstStyle/>
                    <a:p>
                      <a:pPr algn="just"/>
                      <a:r>
                        <a:rPr lang="en-US" dirty="0"/>
                        <a:t>Creating or dropping new indexes</a:t>
                      </a:r>
                    </a:p>
                  </a:txBody>
                  <a:tcPr anchor="ctr"/>
                </a:tc>
                <a:tc>
                  <a:txBody>
                    <a:bodyPr/>
                    <a:lstStyle/>
                    <a:p>
                      <a:pPr algn="just"/>
                      <a:r>
                        <a:rPr lang="en-US" dirty="0"/>
                        <a:t>User queries and the conceptual schema are unaffected.</a:t>
                      </a:r>
                    </a:p>
                  </a:txBody>
                  <a:tcPr anchor="ctr"/>
                </a:tc>
                <a:extLst>
                  <a:ext uri="{0D108BD9-81ED-4DB2-BD59-A6C34878D82A}">
                    <a16:rowId xmlns:a16="http://schemas.microsoft.com/office/drawing/2014/main" val="3379756898"/>
                  </a:ext>
                </a:extLst>
              </a:tr>
              <a:tr h="370840">
                <a:tc>
                  <a:txBody>
                    <a:bodyPr/>
                    <a:lstStyle/>
                    <a:p>
                      <a:pPr algn="just"/>
                      <a:r>
                        <a:rPr lang="en-US"/>
                        <a:t>Changing storage devices (e.g., hard disk to SSD)</a:t>
                      </a:r>
                    </a:p>
                  </a:txBody>
                  <a:tcPr anchor="ctr"/>
                </a:tc>
                <a:tc>
                  <a:txBody>
                    <a:bodyPr/>
                    <a:lstStyle/>
                    <a:p>
                      <a:pPr algn="just"/>
                      <a:r>
                        <a:rPr lang="en-US" dirty="0"/>
                        <a:t>The logical view of the data is preserved.</a:t>
                      </a:r>
                    </a:p>
                  </a:txBody>
                  <a:tcPr anchor="ctr"/>
                </a:tc>
                <a:extLst>
                  <a:ext uri="{0D108BD9-81ED-4DB2-BD59-A6C34878D82A}">
                    <a16:rowId xmlns:a16="http://schemas.microsoft.com/office/drawing/2014/main" val="1583687402"/>
                  </a:ext>
                </a:extLst>
              </a:tr>
            </a:tbl>
          </a:graphicData>
        </a:graphic>
      </p:graphicFrame>
      <p:sp>
        <p:nvSpPr>
          <p:cNvPr id="5" name="TextBox 4">
            <a:extLst>
              <a:ext uri="{FF2B5EF4-FFF2-40B4-BE49-F238E27FC236}">
                <a16:creationId xmlns:a16="http://schemas.microsoft.com/office/drawing/2014/main" id="{89CDF8E7-03CC-4AB8-8B7F-A40B219F7D47}"/>
              </a:ext>
            </a:extLst>
          </p:cNvPr>
          <p:cNvSpPr txBox="1"/>
          <p:nvPr/>
        </p:nvSpPr>
        <p:spPr>
          <a:xfrm>
            <a:off x="668899" y="3146612"/>
            <a:ext cx="8596312" cy="2585323"/>
          </a:xfrm>
          <a:prstGeom prst="rect">
            <a:avLst/>
          </a:prstGeom>
          <a:noFill/>
        </p:spPr>
        <p:txBody>
          <a:bodyPr wrap="square" rtlCol="0">
            <a:spAutoFit/>
          </a:bodyPr>
          <a:lstStyle/>
          <a:p>
            <a:pPr algn="just"/>
            <a:r>
              <a:rPr lang="en-US" b="1" dirty="0"/>
              <a:t>2. Logical Data Independence</a:t>
            </a:r>
          </a:p>
          <a:p>
            <a:pPr algn="just"/>
            <a:endParaRPr lang="en-US" b="1" dirty="0"/>
          </a:p>
          <a:p>
            <a:pPr algn="just"/>
            <a:r>
              <a:rPr lang="en-US" b="1" dirty="0"/>
              <a:t>Definition:</a:t>
            </a:r>
            <a:r>
              <a:rPr lang="en-US" dirty="0"/>
              <a:t> It is the ability to change the </a:t>
            </a:r>
            <a:r>
              <a:rPr lang="en-US" b="1" dirty="0"/>
              <a:t>conceptual level</a:t>
            </a:r>
            <a:r>
              <a:rPr lang="en-US" dirty="0"/>
              <a:t> (logical schema) of the database without requiring changes to the </a:t>
            </a:r>
            <a:r>
              <a:rPr lang="en-US" b="1" dirty="0"/>
              <a:t>external level</a:t>
            </a:r>
            <a:r>
              <a:rPr lang="en-US" dirty="0"/>
              <a:t> (view schemas) or the application programs that access the data.</a:t>
            </a:r>
          </a:p>
          <a:p>
            <a:pPr algn="just"/>
            <a:endParaRPr lang="en-US" b="1" dirty="0"/>
          </a:p>
          <a:p>
            <a:pPr algn="just"/>
            <a:r>
              <a:rPr lang="en-US" b="1" dirty="0"/>
              <a:t>In Simple Terms:</a:t>
            </a:r>
            <a:r>
              <a:rPr lang="en-US" dirty="0"/>
              <a:t> You can change </a:t>
            </a:r>
            <a:r>
              <a:rPr lang="en-US" i="1" dirty="0"/>
              <a:t>what</a:t>
            </a:r>
            <a:r>
              <a:rPr lang="en-US" dirty="0"/>
              <a:t> data is stored in the database (e.g., adding a new attribute to a table or combining two tables) without forcing the end-user applications to be modified.</a:t>
            </a:r>
            <a:endParaRPr lang="en-US" b="1" dirty="0"/>
          </a:p>
        </p:txBody>
      </p:sp>
    </p:spTree>
    <p:extLst>
      <p:ext uri="{BB962C8B-B14F-4D97-AF65-F5344CB8AC3E}">
        <p14:creationId xmlns:p14="http://schemas.microsoft.com/office/powerpoint/2010/main" val="1815753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B5BC432-950B-4241-9BBB-C2D74532A241}"/>
              </a:ext>
            </a:extLst>
          </p:cNvPr>
          <p:cNvGraphicFramePr>
            <a:graphicFrameLocks noGrp="1"/>
          </p:cNvGraphicFramePr>
          <p:nvPr>
            <p:ph idx="1"/>
            <p:extLst>
              <p:ext uri="{D42A27DB-BD31-4B8C-83A1-F6EECF244321}">
                <p14:modId xmlns:p14="http://schemas.microsoft.com/office/powerpoint/2010/main" val="2581056583"/>
              </p:ext>
            </p:extLst>
          </p:nvPr>
        </p:nvGraphicFramePr>
        <p:xfrm>
          <a:off x="677863" y="636588"/>
          <a:ext cx="8596312" cy="2291080"/>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2056735150"/>
                    </a:ext>
                  </a:extLst>
                </a:gridCol>
                <a:gridCol w="4298156">
                  <a:extLst>
                    <a:ext uri="{9D8B030D-6E8A-4147-A177-3AD203B41FA5}">
                      <a16:colId xmlns:a16="http://schemas.microsoft.com/office/drawing/2014/main" val="3788642178"/>
                    </a:ext>
                  </a:extLst>
                </a:gridCol>
              </a:tblGrid>
              <a:tr h="370840">
                <a:tc>
                  <a:txBody>
                    <a:bodyPr/>
                    <a:lstStyle/>
                    <a:p>
                      <a:pPr algn="just"/>
                      <a:r>
                        <a:rPr lang="en-US" dirty="0"/>
                        <a:t>Change at Logical Level</a:t>
                      </a:r>
                    </a:p>
                  </a:txBody>
                  <a:tcPr anchor="ctr"/>
                </a:tc>
                <a:tc>
                  <a:txBody>
                    <a:bodyPr/>
                    <a:lstStyle/>
                    <a:p>
                      <a:pPr algn="just"/>
                      <a:r>
                        <a:rPr lang="en-US"/>
                        <a:t>No Impact on Higher Level</a:t>
                      </a:r>
                    </a:p>
                  </a:txBody>
                  <a:tcPr anchor="ctr"/>
                </a:tc>
                <a:extLst>
                  <a:ext uri="{0D108BD9-81ED-4DB2-BD59-A6C34878D82A}">
                    <a16:rowId xmlns:a16="http://schemas.microsoft.com/office/drawing/2014/main" val="166905032"/>
                  </a:ext>
                </a:extLst>
              </a:tr>
              <a:tr h="370840">
                <a:tc>
                  <a:txBody>
                    <a:bodyPr/>
                    <a:lstStyle/>
                    <a:p>
                      <a:pPr algn="just"/>
                      <a:r>
                        <a:rPr lang="en-US"/>
                        <a:t>Adding a new table (entity) or column (attribute)</a:t>
                      </a:r>
                    </a:p>
                  </a:txBody>
                  <a:tcPr anchor="ctr"/>
                </a:tc>
                <a:tc>
                  <a:txBody>
                    <a:bodyPr/>
                    <a:lstStyle/>
                    <a:p>
                      <a:pPr algn="just"/>
                      <a:r>
                        <a:rPr lang="en-US"/>
                        <a:t>User views accessing the </a:t>
                      </a:r>
                      <a:r>
                        <a:rPr lang="en-US" i="1"/>
                        <a:t>existing</a:t>
                      </a:r>
                      <a:r>
                        <a:rPr lang="en-US"/>
                        <a:t> data are not affected.</a:t>
                      </a:r>
                    </a:p>
                  </a:txBody>
                  <a:tcPr anchor="ctr"/>
                </a:tc>
                <a:extLst>
                  <a:ext uri="{0D108BD9-81ED-4DB2-BD59-A6C34878D82A}">
                    <a16:rowId xmlns:a16="http://schemas.microsoft.com/office/drawing/2014/main" val="963843253"/>
                  </a:ext>
                </a:extLst>
              </a:tr>
              <a:tr h="370840">
                <a:tc>
                  <a:txBody>
                    <a:bodyPr/>
                    <a:lstStyle/>
                    <a:p>
                      <a:pPr algn="just"/>
                      <a:r>
                        <a:rPr lang="en-US"/>
                        <a:t>Modifying a constraint (e.g., changing a data type)</a:t>
                      </a:r>
                    </a:p>
                  </a:txBody>
                  <a:tcPr anchor="ctr"/>
                </a:tc>
                <a:tc>
                  <a:txBody>
                    <a:bodyPr/>
                    <a:lstStyle/>
                    <a:p>
                      <a:pPr algn="just"/>
                      <a:r>
                        <a:rPr lang="en-US"/>
                        <a:t>Applications accessing the unchanged parts of the schema continue to work.</a:t>
                      </a:r>
                    </a:p>
                  </a:txBody>
                  <a:tcPr anchor="ctr"/>
                </a:tc>
                <a:extLst>
                  <a:ext uri="{0D108BD9-81ED-4DB2-BD59-A6C34878D82A}">
                    <a16:rowId xmlns:a16="http://schemas.microsoft.com/office/drawing/2014/main" val="4291086924"/>
                  </a:ext>
                </a:extLst>
              </a:tr>
              <a:tr h="370840">
                <a:tc>
                  <a:txBody>
                    <a:bodyPr/>
                    <a:lstStyle/>
                    <a:p>
                      <a:pPr algn="just"/>
                      <a:r>
                        <a:rPr lang="en-US"/>
                        <a:t>Combining or splitting existing tables</a:t>
                      </a:r>
                    </a:p>
                  </a:txBody>
                  <a:tcPr anchor="ctr"/>
                </a:tc>
                <a:tc>
                  <a:txBody>
                    <a:bodyPr/>
                    <a:lstStyle/>
                    <a:p>
                      <a:pPr algn="just"/>
                      <a:r>
                        <a:rPr lang="en-US" dirty="0"/>
                        <a:t>Views can be redefined using the DBMS to appear as the original tables.</a:t>
                      </a:r>
                    </a:p>
                  </a:txBody>
                  <a:tcPr anchor="ctr"/>
                </a:tc>
                <a:extLst>
                  <a:ext uri="{0D108BD9-81ED-4DB2-BD59-A6C34878D82A}">
                    <a16:rowId xmlns:a16="http://schemas.microsoft.com/office/drawing/2014/main" val="2451609432"/>
                  </a:ext>
                </a:extLst>
              </a:tr>
            </a:tbl>
          </a:graphicData>
        </a:graphic>
      </p:graphicFrame>
      <p:sp>
        <p:nvSpPr>
          <p:cNvPr id="5" name="TextBox 4">
            <a:extLst>
              <a:ext uri="{FF2B5EF4-FFF2-40B4-BE49-F238E27FC236}">
                <a16:creationId xmlns:a16="http://schemas.microsoft.com/office/drawing/2014/main" id="{654F6AC3-00F5-4D77-875E-E91040807965}"/>
              </a:ext>
            </a:extLst>
          </p:cNvPr>
          <p:cNvSpPr txBox="1"/>
          <p:nvPr/>
        </p:nvSpPr>
        <p:spPr>
          <a:xfrm>
            <a:off x="677864" y="3558988"/>
            <a:ext cx="8596312" cy="923330"/>
          </a:xfrm>
          <a:prstGeom prst="rect">
            <a:avLst/>
          </a:prstGeom>
          <a:noFill/>
        </p:spPr>
        <p:txBody>
          <a:bodyPr wrap="square" rtlCol="0">
            <a:spAutoFit/>
          </a:bodyPr>
          <a:lstStyle/>
          <a:p>
            <a:pPr algn="just"/>
            <a:r>
              <a:rPr lang="en-US" b="1" dirty="0"/>
              <a:t>Importance:</a:t>
            </a:r>
            <a:r>
              <a:rPr lang="en-US" dirty="0"/>
              <a:t> Logical data independence is </a:t>
            </a:r>
            <a:r>
              <a:rPr lang="en-US" b="1" dirty="0"/>
              <a:t>more difficult</a:t>
            </a:r>
            <a:r>
              <a:rPr lang="en-US" dirty="0"/>
              <a:t> to achieve but provides more benefits, as major changes in the logical structure often have widespread consequences for application programs.</a:t>
            </a:r>
          </a:p>
        </p:txBody>
      </p:sp>
    </p:spTree>
    <p:extLst>
      <p:ext uri="{BB962C8B-B14F-4D97-AF65-F5344CB8AC3E}">
        <p14:creationId xmlns:p14="http://schemas.microsoft.com/office/powerpoint/2010/main" val="3819349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70C82-2AE1-477E-9C4A-D573F96EB505}"/>
              </a:ext>
            </a:extLst>
          </p:cNvPr>
          <p:cNvSpPr>
            <a:spLocks noGrp="1"/>
          </p:cNvSpPr>
          <p:nvPr>
            <p:ph type="title"/>
          </p:nvPr>
        </p:nvSpPr>
        <p:spPr>
          <a:xfrm>
            <a:off x="677334" y="609600"/>
            <a:ext cx="8596668" cy="932329"/>
          </a:xfrm>
        </p:spPr>
        <p:txBody>
          <a:bodyPr>
            <a:noAutofit/>
          </a:bodyPr>
          <a:lstStyle/>
          <a:p>
            <a:pPr algn="just"/>
            <a:r>
              <a:rPr lang="en-US" sz="2700" dirty="0"/>
              <a:t>(11) What is data abstraction? Explain 3 levels of data abstraction in brief. </a:t>
            </a:r>
          </a:p>
        </p:txBody>
      </p:sp>
      <p:sp>
        <p:nvSpPr>
          <p:cNvPr id="3" name="Content Placeholder 2">
            <a:extLst>
              <a:ext uri="{FF2B5EF4-FFF2-40B4-BE49-F238E27FC236}">
                <a16:creationId xmlns:a16="http://schemas.microsoft.com/office/drawing/2014/main" id="{FC08493D-3AB3-4B6F-8C91-DBDF8F45F0F8}"/>
              </a:ext>
            </a:extLst>
          </p:cNvPr>
          <p:cNvSpPr>
            <a:spLocks noGrp="1"/>
          </p:cNvSpPr>
          <p:nvPr>
            <p:ph idx="1"/>
          </p:nvPr>
        </p:nvSpPr>
        <p:spPr/>
        <p:txBody>
          <a:bodyPr>
            <a:normAutofit/>
          </a:bodyPr>
          <a:lstStyle/>
          <a:p>
            <a:pPr algn="just"/>
            <a:r>
              <a:rPr lang="en-US" dirty="0"/>
              <a:t>Data abstraction in a Database Management System (DBMS) is the process of hiding the complex implementation details of how data is stored and managed, presenting users and applications with a simplified and conceptual view. This simplification is achieved through a multi-level architecture, typically comprising three levels of abstraction.</a:t>
            </a:r>
          </a:p>
          <a:p>
            <a:pPr marL="0" indent="0" algn="just">
              <a:buNone/>
            </a:pPr>
            <a:endParaRPr lang="en-US" dirty="0"/>
          </a:p>
          <a:p>
            <a:pPr algn="just"/>
            <a:r>
              <a:rPr lang="en-US" dirty="0"/>
              <a:t>Physical Level</a:t>
            </a:r>
          </a:p>
          <a:p>
            <a:pPr algn="just"/>
            <a:r>
              <a:rPr lang="en-US" dirty="0"/>
              <a:t>Logical Level</a:t>
            </a:r>
          </a:p>
          <a:p>
            <a:pPr algn="just"/>
            <a:r>
              <a:rPr lang="en-US" dirty="0"/>
              <a:t>View level</a:t>
            </a:r>
          </a:p>
        </p:txBody>
      </p:sp>
    </p:spTree>
    <p:extLst>
      <p:ext uri="{BB962C8B-B14F-4D97-AF65-F5344CB8AC3E}">
        <p14:creationId xmlns:p14="http://schemas.microsoft.com/office/powerpoint/2010/main" val="3478616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D9E158-1D11-4854-8CC9-8449E803C367}"/>
              </a:ext>
            </a:extLst>
          </p:cNvPr>
          <p:cNvSpPr>
            <a:spLocks noGrp="1"/>
          </p:cNvSpPr>
          <p:nvPr>
            <p:ph idx="1"/>
          </p:nvPr>
        </p:nvSpPr>
        <p:spPr>
          <a:xfrm>
            <a:off x="677334" y="439271"/>
            <a:ext cx="8596668" cy="5602091"/>
          </a:xfrm>
        </p:spPr>
        <p:txBody>
          <a:bodyPr>
            <a:normAutofit/>
          </a:bodyPr>
          <a:lstStyle/>
          <a:p>
            <a:pPr algn="just"/>
            <a:r>
              <a:rPr lang="en-US" b="1" dirty="0"/>
              <a:t>Physical Level :</a:t>
            </a:r>
          </a:p>
          <a:p>
            <a:pPr algn="just"/>
            <a:r>
              <a:rPr lang="en-US" dirty="0"/>
              <a:t>This is the lowest level of abstraction, describing how the data is actually stored on the physical storage devices (e.g., hard drives, SSDs).</a:t>
            </a:r>
          </a:p>
          <a:p>
            <a:pPr algn="just"/>
            <a:r>
              <a:rPr lang="en-US" dirty="0"/>
              <a:t>It deals with details like file organization, indexing methods, data block allocation, and the physical location of data.</a:t>
            </a:r>
          </a:p>
          <a:p>
            <a:pPr algn="just"/>
            <a:r>
              <a:rPr lang="en-US" dirty="0"/>
              <a:t>Users and applications are generally unaware of this level of detail.</a:t>
            </a:r>
          </a:p>
          <a:p>
            <a:pPr algn="just"/>
            <a:endParaRPr lang="en-US" dirty="0"/>
          </a:p>
          <a:p>
            <a:pPr algn="just"/>
            <a:r>
              <a:rPr lang="en-US" b="1" dirty="0"/>
              <a:t>Logical Level (Conceptual Level) :</a:t>
            </a:r>
          </a:p>
          <a:p>
            <a:pPr algn="just"/>
            <a:r>
              <a:rPr lang="en-US" dirty="0"/>
              <a:t>This level describes what data is stored in the database and the relationships between these data elements.</a:t>
            </a:r>
          </a:p>
          <a:p>
            <a:pPr algn="just"/>
            <a:r>
              <a:rPr lang="en-US" dirty="0"/>
              <a:t>It defines the database schema, including tables, attributes, data types, relationships, and constraints.</a:t>
            </a:r>
          </a:p>
          <a:p>
            <a:pPr algn="just"/>
            <a:r>
              <a:rPr lang="en-US" dirty="0"/>
              <a:t>Database administrators and designers primarily work at this level to define the overall structure of the database. Users interact with the database using the logical schema, without needing to know the physical storage details.</a:t>
            </a:r>
          </a:p>
        </p:txBody>
      </p:sp>
    </p:spTree>
    <p:extLst>
      <p:ext uri="{BB962C8B-B14F-4D97-AF65-F5344CB8AC3E}">
        <p14:creationId xmlns:p14="http://schemas.microsoft.com/office/powerpoint/2010/main" val="3174277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96906C-8BD5-4547-9529-B246D46D6A2A}"/>
              </a:ext>
            </a:extLst>
          </p:cNvPr>
          <p:cNvSpPr>
            <a:spLocks noGrp="1"/>
          </p:cNvSpPr>
          <p:nvPr>
            <p:ph idx="1"/>
          </p:nvPr>
        </p:nvSpPr>
        <p:spPr>
          <a:xfrm>
            <a:off x="677334" y="546847"/>
            <a:ext cx="8596668" cy="5494515"/>
          </a:xfrm>
        </p:spPr>
        <p:txBody>
          <a:bodyPr/>
          <a:lstStyle/>
          <a:p>
            <a:pPr algn="just"/>
            <a:r>
              <a:rPr lang="en-US" b="1" dirty="0"/>
              <a:t>View Level (External Level) :</a:t>
            </a:r>
          </a:p>
          <a:p>
            <a:pPr algn="just"/>
            <a:r>
              <a:rPr lang="en-US" dirty="0"/>
              <a:t>This is the highest level of abstraction, presenting a customized and simplified view of the database to individual users or applications.</a:t>
            </a:r>
          </a:p>
          <a:p>
            <a:pPr algn="just"/>
            <a:r>
              <a:rPr lang="en-US" dirty="0"/>
              <a:t>Users at this level only see the specific data that is relevant to their tasks, and irrelevant details or sensitive information are hidden.</a:t>
            </a:r>
          </a:p>
          <a:p>
            <a:pPr algn="just"/>
            <a:r>
              <a:rPr lang="en-US" dirty="0"/>
              <a:t>Views can be created to provide different perspectives of the same data, enhancing security and simplifying data access for various user groups.</a:t>
            </a:r>
          </a:p>
        </p:txBody>
      </p:sp>
    </p:spTree>
    <p:extLst>
      <p:ext uri="{BB962C8B-B14F-4D97-AF65-F5344CB8AC3E}">
        <p14:creationId xmlns:p14="http://schemas.microsoft.com/office/powerpoint/2010/main" val="2082808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8C54C-0C10-4E84-B748-3A28B2BD945A}"/>
              </a:ext>
            </a:extLst>
          </p:cNvPr>
          <p:cNvSpPr>
            <a:spLocks noGrp="1"/>
          </p:cNvSpPr>
          <p:nvPr>
            <p:ph type="title"/>
          </p:nvPr>
        </p:nvSpPr>
        <p:spPr>
          <a:xfrm>
            <a:off x="452530" y="497710"/>
            <a:ext cx="8821472" cy="1088021"/>
          </a:xfrm>
        </p:spPr>
        <p:txBody>
          <a:bodyPr>
            <a:noAutofit/>
          </a:bodyPr>
          <a:lstStyle/>
          <a:p>
            <a:pPr algn="just"/>
            <a:r>
              <a:rPr lang="en-US" sz="2700" dirty="0"/>
              <a:t>(12) What is data abstraction? Explain 3 levels of data abstraction in brief. </a:t>
            </a:r>
            <a:br>
              <a:rPr lang="en-US" sz="2700" dirty="0"/>
            </a:br>
            <a:endParaRPr lang="en-US" sz="2700" dirty="0"/>
          </a:p>
        </p:txBody>
      </p:sp>
      <p:pic>
        <p:nvPicPr>
          <p:cNvPr id="5" name="Content Placeholder 4">
            <a:extLst>
              <a:ext uri="{FF2B5EF4-FFF2-40B4-BE49-F238E27FC236}">
                <a16:creationId xmlns:a16="http://schemas.microsoft.com/office/drawing/2014/main" id="{36D29069-26E9-41B3-BD28-8F13B64B62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2529" y="1585732"/>
            <a:ext cx="8733815" cy="4974567"/>
          </a:xfrm>
        </p:spPr>
      </p:pic>
    </p:spTree>
    <p:extLst>
      <p:ext uri="{BB962C8B-B14F-4D97-AF65-F5344CB8AC3E}">
        <p14:creationId xmlns:p14="http://schemas.microsoft.com/office/powerpoint/2010/main" val="2442491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C8BDA-53EA-4AD0-9899-751DE5BC2502}"/>
              </a:ext>
            </a:extLst>
          </p:cNvPr>
          <p:cNvSpPr>
            <a:spLocks noGrp="1"/>
          </p:cNvSpPr>
          <p:nvPr>
            <p:ph idx="1"/>
          </p:nvPr>
        </p:nvSpPr>
        <p:spPr>
          <a:xfrm>
            <a:off x="231493" y="300943"/>
            <a:ext cx="9271321" cy="5740420"/>
          </a:xfrm>
        </p:spPr>
        <p:txBody>
          <a:bodyPr>
            <a:noAutofit/>
          </a:bodyPr>
          <a:lstStyle/>
          <a:p>
            <a:pPr algn="just"/>
            <a:r>
              <a:rPr lang="en-US" b="1" dirty="0"/>
              <a:t>Benefits of RDBMS-</a:t>
            </a:r>
          </a:p>
          <a:p>
            <a:pPr algn="just"/>
            <a:r>
              <a:rPr lang="en-US" dirty="0"/>
              <a:t>The benefits of a Relational Database Management System (RDBMS)include data integrity and consistency, data security and controlled access, scalability to handle growing data, a well-defined relational model for organized storage, efficient querying with SQL, improved data handling and reduced redundancy through normalization, and support for multi-user access.</a:t>
            </a:r>
          </a:p>
          <a:p>
            <a:pPr algn="just"/>
            <a:r>
              <a:rPr lang="en-US" b="1" dirty="0"/>
              <a:t>Data Integrity and Consistency: </a:t>
            </a:r>
            <a:r>
              <a:rPr lang="en-US" dirty="0"/>
              <a:t>RDBMS ensures data is accurate and consistent through the use of keys, indexes, and the ACID (</a:t>
            </a:r>
            <a:r>
              <a:rPr lang="en-US" dirty="0" err="1"/>
              <a:t>Atomicity,Consistency</a:t>
            </a:r>
            <a:r>
              <a:rPr lang="en-US" dirty="0"/>
              <a:t>, Isolation, Durability) properties for transactions.</a:t>
            </a:r>
          </a:p>
          <a:p>
            <a:pPr algn="just"/>
            <a:r>
              <a:rPr lang="en-US" b="1" dirty="0"/>
              <a:t>Data Security: </a:t>
            </a:r>
            <a:r>
              <a:rPr lang="en-US" dirty="0"/>
              <a:t>Features such as multi-level security and controlled access allow organizations to restrict data access to specific users, protecting sensitive information.</a:t>
            </a:r>
          </a:p>
          <a:p>
            <a:pPr algn="just"/>
            <a:r>
              <a:rPr lang="en-US" b="1" dirty="0"/>
              <a:t>Scalability: </a:t>
            </a:r>
            <a:r>
              <a:rPr lang="en-US" dirty="0"/>
              <a:t>RDBMS can be easily extended to incorporate more records and accommodate growing data, providing greater scalability for businesses.</a:t>
            </a:r>
          </a:p>
          <a:p>
            <a:pPr algn="just"/>
            <a:r>
              <a:rPr lang="en-US" b="1" dirty="0"/>
              <a:t>Relational Model and Organization: </a:t>
            </a:r>
            <a:r>
              <a:rPr lang="en-US" dirty="0"/>
              <a:t>Data is stored in tables, creating a clear, organized structure that simplifies data management, understanding, and access to related data points.</a:t>
            </a:r>
          </a:p>
        </p:txBody>
      </p:sp>
    </p:spTree>
    <p:extLst>
      <p:ext uri="{BB962C8B-B14F-4D97-AF65-F5344CB8AC3E}">
        <p14:creationId xmlns:p14="http://schemas.microsoft.com/office/powerpoint/2010/main" val="1996958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62BA3B-4067-4036-A5EA-A6057FEDB241}"/>
              </a:ext>
            </a:extLst>
          </p:cNvPr>
          <p:cNvSpPr>
            <a:spLocks noGrp="1"/>
          </p:cNvSpPr>
          <p:nvPr>
            <p:ph idx="1"/>
          </p:nvPr>
        </p:nvSpPr>
        <p:spPr>
          <a:xfrm>
            <a:off x="381965" y="358815"/>
            <a:ext cx="8892037" cy="5682547"/>
          </a:xfrm>
        </p:spPr>
        <p:txBody>
          <a:bodyPr/>
          <a:lstStyle/>
          <a:p>
            <a:pPr algn="just"/>
            <a:r>
              <a:rPr lang="en-US" b="1" dirty="0"/>
              <a:t>SQL Querying: </a:t>
            </a:r>
            <a:r>
              <a:rPr lang="en-US" dirty="0"/>
              <a:t>The standardized structured query language (SQL) allows for powerful and flexible data querying, including complex queries that combine data from multiple tables.</a:t>
            </a:r>
          </a:p>
          <a:p>
            <a:pPr algn="just"/>
            <a:r>
              <a:rPr lang="en-US" b="1" dirty="0"/>
              <a:t>Reduced Redundancy: </a:t>
            </a:r>
            <a:r>
              <a:rPr lang="en-US" dirty="0"/>
              <a:t>Normalization principles, along with keys and indexes, help avoid data duplication, leading to cleaner and more consistent data.</a:t>
            </a:r>
          </a:p>
          <a:p>
            <a:pPr algn="just"/>
            <a:r>
              <a:rPr lang="en-US" b="1" dirty="0"/>
              <a:t>Flexibility and Ease of Use: </a:t>
            </a:r>
            <a:r>
              <a:rPr lang="en-US" dirty="0"/>
              <a:t>Data can be easily updated at a single point of access without affecting other files, and the structured format makes it easier to manage and use.</a:t>
            </a:r>
          </a:p>
          <a:p>
            <a:pPr algn="just"/>
            <a:r>
              <a:rPr lang="en-US" b="1" dirty="0"/>
              <a:t>Multi-User Access: </a:t>
            </a:r>
            <a:r>
              <a:rPr lang="en-US" dirty="0"/>
              <a:t>RDBMS supports client-server architecture, enabling multiple users to access and work with the database simultaneously.</a:t>
            </a:r>
          </a:p>
          <a:p>
            <a:pPr algn="just"/>
            <a:r>
              <a:rPr lang="en-US" b="1" dirty="0"/>
              <a:t>Fault Tolerance: </a:t>
            </a:r>
            <a:r>
              <a:rPr lang="en-US" dirty="0"/>
              <a:t>Features like database replication help ensure </a:t>
            </a:r>
            <a:r>
              <a:rPr lang="en-US" dirty="0" err="1"/>
              <a:t>continuousaccess</a:t>
            </a:r>
            <a:r>
              <a:rPr lang="en-US" dirty="0"/>
              <a:t> and enable the system to recover from disasters.</a:t>
            </a:r>
          </a:p>
        </p:txBody>
      </p:sp>
    </p:spTree>
    <p:extLst>
      <p:ext uri="{BB962C8B-B14F-4D97-AF65-F5344CB8AC3E}">
        <p14:creationId xmlns:p14="http://schemas.microsoft.com/office/powerpoint/2010/main" val="1744698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FCB79-D5F3-4987-B409-34ED19D7BD6D}"/>
              </a:ext>
            </a:extLst>
          </p:cNvPr>
          <p:cNvSpPr>
            <a:spLocks noGrp="1"/>
          </p:cNvSpPr>
          <p:nvPr>
            <p:ph type="title"/>
          </p:nvPr>
        </p:nvSpPr>
        <p:spPr>
          <a:xfrm>
            <a:off x="677334" y="609600"/>
            <a:ext cx="8596668" cy="733063"/>
          </a:xfrm>
        </p:spPr>
        <p:txBody>
          <a:bodyPr>
            <a:normAutofit/>
          </a:bodyPr>
          <a:lstStyle/>
          <a:p>
            <a:pPr algn="just"/>
            <a:r>
              <a:rPr lang="en-US" sz="2700" dirty="0"/>
              <a:t>(13) Explain DBMS languages with examples. </a:t>
            </a:r>
          </a:p>
        </p:txBody>
      </p:sp>
      <p:sp>
        <p:nvSpPr>
          <p:cNvPr id="3" name="Content Placeholder 2">
            <a:extLst>
              <a:ext uri="{FF2B5EF4-FFF2-40B4-BE49-F238E27FC236}">
                <a16:creationId xmlns:a16="http://schemas.microsoft.com/office/drawing/2014/main" id="{F2B76FA9-4CBA-41AC-A64D-9C6202580E67}"/>
              </a:ext>
            </a:extLst>
          </p:cNvPr>
          <p:cNvSpPr>
            <a:spLocks noGrp="1"/>
          </p:cNvSpPr>
          <p:nvPr>
            <p:ph idx="1"/>
          </p:nvPr>
        </p:nvSpPr>
        <p:spPr>
          <a:xfrm>
            <a:off x="677334" y="1446835"/>
            <a:ext cx="8596668" cy="4594527"/>
          </a:xfrm>
        </p:spPr>
        <p:txBody>
          <a:bodyPr/>
          <a:lstStyle/>
          <a:p>
            <a:pPr algn="just"/>
            <a:r>
              <a:rPr lang="en-US" dirty="0"/>
              <a:t>In a Database Management System (DBMS), special languages are used to perform tasks such as defining the structure of data, manipulating data, and controlling user access. These are called DBMS languages and can be categorized into:</a:t>
            </a:r>
          </a:p>
          <a:p>
            <a:pPr algn="just"/>
            <a:r>
              <a:rPr lang="en-US" dirty="0"/>
              <a:t>DDL – Data Definition Language</a:t>
            </a:r>
          </a:p>
          <a:p>
            <a:pPr algn="just"/>
            <a:r>
              <a:rPr lang="en-US" dirty="0"/>
              <a:t>DML – Data Manipulation Language</a:t>
            </a:r>
          </a:p>
          <a:p>
            <a:pPr algn="just"/>
            <a:r>
              <a:rPr lang="en-US" dirty="0"/>
              <a:t>DCL – Data Control Language</a:t>
            </a:r>
          </a:p>
        </p:txBody>
      </p:sp>
    </p:spTree>
    <p:extLst>
      <p:ext uri="{BB962C8B-B14F-4D97-AF65-F5344CB8AC3E}">
        <p14:creationId xmlns:p14="http://schemas.microsoft.com/office/powerpoint/2010/main" val="2593949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275FA7-AB4C-4D10-AE85-54F0760F1358}"/>
              </a:ext>
            </a:extLst>
          </p:cNvPr>
          <p:cNvSpPr>
            <a:spLocks noGrp="1"/>
          </p:cNvSpPr>
          <p:nvPr>
            <p:ph idx="1"/>
          </p:nvPr>
        </p:nvSpPr>
        <p:spPr>
          <a:xfrm>
            <a:off x="677334" y="381965"/>
            <a:ext cx="8596668" cy="5659397"/>
          </a:xfrm>
        </p:spPr>
        <p:txBody>
          <a:bodyPr/>
          <a:lstStyle/>
          <a:p>
            <a:pPr algn="just"/>
            <a:r>
              <a:rPr lang="en-US" b="1" dirty="0"/>
              <a:t>1. Data Definition Language (DDL)</a:t>
            </a:r>
          </a:p>
          <a:p>
            <a:pPr algn="just"/>
            <a:r>
              <a:rPr lang="en-US" dirty="0"/>
              <a:t>DDL commands are used to </a:t>
            </a:r>
            <a:r>
              <a:rPr lang="en-US" b="1" dirty="0"/>
              <a:t>define the internal and conceptual schema</a:t>
            </a:r>
            <a:r>
              <a:rPr lang="en-US" dirty="0"/>
              <a:t> of the database. They deal with the structure or description of the database objects.</a:t>
            </a:r>
          </a:p>
          <a:p>
            <a:pPr algn="just"/>
            <a:endParaRPr lang="en-US" dirty="0"/>
          </a:p>
        </p:txBody>
      </p:sp>
      <p:graphicFrame>
        <p:nvGraphicFramePr>
          <p:cNvPr id="4" name="Table 3">
            <a:extLst>
              <a:ext uri="{FF2B5EF4-FFF2-40B4-BE49-F238E27FC236}">
                <a16:creationId xmlns:a16="http://schemas.microsoft.com/office/drawing/2014/main" id="{AEFCC19D-D780-4AA6-8DCB-650002F1FDA0}"/>
              </a:ext>
            </a:extLst>
          </p:cNvPr>
          <p:cNvGraphicFramePr>
            <a:graphicFrameLocks noGrp="1"/>
          </p:cNvGraphicFramePr>
          <p:nvPr>
            <p:extLst>
              <p:ext uri="{D42A27DB-BD31-4B8C-83A1-F6EECF244321}">
                <p14:modId xmlns:p14="http://schemas.microsoft.com/office/powerpoint/2010/main" val="2397217573"/>
              </p:ext>
            </p:extLst>
          </p:nvPr>
        </p:nvGraphicFramePr>
        <p:xfrm>
          <a:off x="677334" y="1807687"/>
          <a:ext cx="8596668" cy="4383750"/>
        </p:xfrm>
        <a:graphic>
          <a:graphicData uri="http://schemas.openxmlformats.org/drawingml/2006/table">
            <a:tbl>
              <a:tblPr firstRow="1" bandRow="1">
                <a:tableStyleId>{5C22544A-7EE6-4342-B048-85BDC9FD1C3A}</a:tableStyleId>
              </a:tblPr>
              <a:tblGrid>
                <a:gridCol w="1382960">
                  <a:extLst>
                    <a:ext uri="{9D8B030D-6E8A-4147-A177-3AD203B41FA5}">
                      <a16:colId xmlns:a16="http://schemas.microsoft.com/office/drawing/2014/main" val="1104203167"/>
                    </a:ext>
                  </a:extLst>
                </a:gridCol>
                <a:gridCol w="4348152">
                  <a:extLst>
                    <a:ext uri="{9D8B030D-6E8A-4147-A177-3AD203B41FA5}">
                      <a16:colId xmlns:a16="http://schemas.microsoft.com/office/drawing/2014/main" val="2054805798"/>
                    </a:ext>
                  </a:extLst>
                </a:gridCol>
                <a:gridCol w="2865556">
                  <a:extLst>
                    <a:ext uri="{9D8B030D-6E8A-4147-A177-3AD203B41FA5}">
                      <a16:colId xmlns:a16="http://schemas.microsoft.com/office/drawing/2014/main" val="1041306765"/>
                    </a:ext>
                  </a:extLst>
                </a:gridCol>
              </a:tblGrid>
              <a:tr h="391503">
                <a:tc>
                  <a:txBody>
                    <a:bodyPr/>
                    <a:lstStyle/>
                    <a:p>
                      <a:pPr algn="just"/>
                      <a:r>
                        <a:rPr lang="en-US" dirty="0"/>
                        <a:t>Command</a:t>
                      </a:r>
                    </a:p>
                  </a:txBody>
                  <a:tcPr anchor="ctr"/>
                </a:tc>
                <a:tc>
                  <a:txBody>
                    <a:bodyPr/>
                    <a:lstStyle/>
                    <a:p>
                      <a:pPr algn="just"/>
                      <a:r>
                        <a:rPr lang="en-US" dirty="0"/>
                        <a:t>Purpose</a:t>
                      </a:r>
                    </a:p>
                  </a:txBody>
                  <a:tcPr anchor="ctr"/>
                </a:tc>
                <a:tc>
                  <a:txBody>
                    <a:bodyPr/>
                    <a:lstStyle/>
                    <a:p>
                      <a:pPr algn="just"/>
                      <a:r>
                        <a:rPr lang="en-US"/>
                        <a:t>Example</a:t>
                      </a:r>
                    </a:p>
                  </a:txBody>
                  <a:tcPr anchor="ctr"/>
                </a:tc>
                <a:extLst>
                  <a:ext uri="{0D108BD9-81ED-4DB2-BD59-A6C34878D82A}">
                    <a16:rowId xmlns:a16="http://schemas.microsoft.com/office/drawing/2014/main" val="4103041608"/>
                  </a:ext>
                </a:extLst>
              </a:tr>
              <a:tr h="721149">
                <a:tc>
                  <a:txBody>
                    <a:bodyPr/>
                    <a:lstStyle/>
                    <a:p>
                      <a:pPr algn="just"/>
                      <a:r>
                        <a:rPr lang="en-US" b="1"/>
                        <a:t>CREATE</a:t>
                      </a:r>
                      <a:endParaRPr lang="en-US"/>
                    </a:p>
                  </a:txBody>
                  <a:tcPr anchor="ctr"/>
                </a:tc>
                <a:tc>
                  <a:txBody>
                    <a:bodyPr/>
                    <a:lstStyle/>
                    <a:p>
                      <a:pPr algn="just"/>
                      <a:r>
                        <a:rPr lang="en-US" dirty="0"/>
                        <a:t>Used to create new database objects (tables, indexes, views, etc.).</a:t>
                      </a:r>
                    </a:p>
                  </a:txBody>
                  <a:tcPr anchor="ctr"/>
                </a:tc>
                <a:tc>
                  <a:txBody>
                    <a:bodyPr/>
                    <a:lstStyle/>
                    <a:p>
                      <a:pPr algn="just"/>
                      <a:r>
                        <a:rPr lang="en-US" dirty="0"/>
                        <a:t>CREATE TABLE Employee (</a:t>
                      </a:r>
                      <a:r>
                        <a:rPr lang="en-US" dirty="0" err="1"/>
                        <a:t>EmpID</a:t>
                      </a:r>
                      <a:r>
                        <a:rPr lang="en-US" dirty="0"/>
                        <a:t> INT PRIMARY KEY, Name VARCHAR(50));</a:t>
                      </a:r>
                    </a:p>
                  </a:txBody>
                  <a:tcPr anchor="ctr"/>
                </a:tc>
                <a:extLst>
                  <a:ext uri="{0D108BD9-81ED-4DB2-BD59-A6C34878D82A}">
                    <a16:rowId xmlns:a16="http://schemas.microsoft.com/office/drawing/2014/main" val="2751578030"/>
                  </a:ext>
                </a:extLst>
              </a:tr>
              <a:tr h="721149">
                <a:tc>
                  <a:txBody>
                    <a:bodyPr/>
                    <a:lstStyle/>
                    <a:p>
                      <a:pPr algn="just"/>
                      <a:r>
                        <a:rPr lang="en-US" b="1"/>
                        <a:t>ALTER</a:t>
                      </a:r>
                      <a:endParaRPr lang="en-US"/>
                    </a:p>
                  </a:txBody>
                  <a:tcPr anchor="ctr"/>
                </a:tc>
                <a:tc>
                  <a:txBody>
                    <a:bodyPr/>
                    <a:lstStyle/>
                    <a:p>
                      <a:pPr algn="just"/>
                      <a:r>
                        <a:rPr lang="en-US"/>
                        <a:t>Used to modify the structure of an existing database object.</a:t>
                      </a:r>
                    </a:p>
                  </a:txBody>
                  <a:tcPr anchor="ctr"/>
                </a:tc>
                <a:tc>
                  <a:txBody>
                    <a:bodyPr/>
                    <a:lstStyle/>
                    <a:p>
                      <a:pPr algn="just"/>
                      <a:r>
                        <a:rPr lang="en-US"/>
                        <a:t>ALTER TABLE Employee ADD Salary DECIMAL(10, 2);</a:t>
                      </a:r>
                    </a:p>
                  </a:txBody>
                  <a:tcPr anchor="ctr"/>
                </a:tc>
                <a:extLst>
                  <a:ext uri="{0D108BD9-81ED-4DB2-BD59-A6C34878D82A}">
                    <a16:rowId xmlns:a16="http://schemas.microsoft.com/office/drawing/2014/main" val="1879145028"/>
                  </a:ext>
                </a:extLst>
              </a:tr>
              <a:tr h="721149">
                <a:tc>
                  <a:txBody>
                    <a:bodyPr/>
                    <a:lstStyle/>
                    <a:p>
                      <a:pPr algn="just"/>
                      <a:r>
                        <a:rPr lang="en-US" b="1"/>
                        <a:t>DROP</a:t>
                      </a:r>
                      <a:endParaRPr lang="en-US"/>
                    </a:p>
                  </a:txBody>
                  <a:tcPr anchor="ctr"/>
                </a:tc>
                <a:tc>
                  <a:txBody>
                    <a:bodyPr/>
                    <a:lstStyle/>
                    <a:p>
                      <a:pPr algn="just"/>
                      <a:r>
                        <a:rPr lang="en-US"/>
                        <a:t>Used to permanently delete a database object from the schema.</a:t>
                      </a:r>
                    </a:p>
                  </a:txBody>
                  <a:tcPr anchor="ctr"/>
                </a:tc>
                <a:tc>
                  <a:txBody>
                    <a:bodyPr/>
                    <a:lstStyle/>
                    <a:p>
                      <a:pPr algn="just"/>
                      <a:r>
                        <a:rPr lang="en-US"/>
                        <a:t>DROP TABLE Employee;</a:t>
                      </a:r>
                    </a:p>
                  </a:txBody>
                  <a:tcPr anchor="ctr"/>
                </a:tc>
                <a:extLst>
                  <a:ext uri="{0D108BD9-81ED-4DB2-BD59-A6C34878D82A}">
                    <a16:rowId xmlns:a16="http://schemas.microsoft.com/office/drawing/2014/main" val="3315902218"/>
                  </a:ext>
                </a:extLst>
              </a:tr>
              <a:tr h="721149">
                <a:tc>
                  <a:txBody>
                    <a:bodyPr/>
                    <a:lstStyle/>
                    <a:p>
                      <a:pPr algn="just"/>
                      <a:r>
                        <a:rPr lang="en-US" b="1"/>
                        <a:t>TRUNCATE</a:t>
                      </a:r>
                      <a:endParaRPr lang="en-US"/>
                    </a:p>
                  </a:txBody>
                  <a:tcPr anchor="ctr"/>
                </a:tc>
                <a:tc>
                  <a:txBody>
                    <a:bodyPr/>
                    <a:lstStyle/>
                    <a:p>
                      <a:pPr algn="just"/>
                      <a:r>
                        <a:rPr lang="en-US"/>
                        <a:t>Used to quickly remove </a:t>
                      </a:r>
                      <a:r>
                        <a:rPr lang="en-US" b="1"/>
                        <a:t>all rows</a:t>
                      </a:r>
                      <a:r>
                        <a:rPr lang="en-US"/>
                        <a:t> from a table, but the table structure remains.</a:t>
                      </a:r>
                    </a:p>
                  </a:txBody>
                  <a:tcPr anchor="ctr"/>
                </a:tc>
                <a:tc>
                  <a:txBody>
                    <a:bodyPr/>
                    <a:lstStyle/>
                    <a:p>
                      <a:pPr algn="just"/>
                      <a:r>
                        <a:rPr lang="en-US"/>
                        <a:t>TRUNCATE TABLE Employee;</a:t>
                      </a:r>
                    </a:p>
                  </a:txBody>
                  <a:tcPr anchor="ctr"/>
                </a:tc>
                <a:extLst>
                  <a:ext uri="{0D108BD9-81ED-4DB2-BD59-A6C34878D82A}">
                    <a16:rowId xmlns:a16="http://schemas.microsoft.com/office/drawing/2014/main" val="68604257"/>
                  </a:ext>
                </a:extLst>
              </a:tr>
              <a:tr h="721149">
                <a:tc>
                  <a:txBody>
                    <a:bodyPr/>
                    <a:lstStyle/>
                    <a:p>
                      <a:pPr algn="just"/>
                      <a:r>
                        <a:rPr lang="en-US" b="1"/>
                        <a:t>RENAME</a:t>
                      </a:r>
                      <a:endParaRPr lang="en-US"/>
                    </a:p>
                  </a:txBody>
                  <a:tcPr anchor="ctr"/>
                </a:tc>
                <a:tc>
                  <a:txBody>
                    <a:bodyPr/>
                    <a:lstStyle/>
                    <a:p>
                      <a:pPr algn="just"/>
                      <a:r>
                        <a:rPr lang="en-US" dirty="0"/>
                        <a:t>Used to rename an existing database object.</a:t>
                      </a:r>
                    </a:p>
                  </a:txBody>
                  <a:tcPr anchor="ctr"/>
                </a:tc>
                <a:tc>
                  <a:txBody>
                    <a:bodyPr/>
                    <a:lstStyle/>
                    <a:p>
                      <a:pPr algn="just"/>
                      <a:r>
                        <a:rPr lang="en-US" dirty="0"/>
                        <a:t>RENAME TABLE Employee TO Staff;</a:t>
                      </a:r>
                    </a:p>
                  </a:txBody>
                  <a:tcPr anchor="ctr"/>
                </a:tc>
                <a:extLst>
                  <a:ext uri="{0D108BD9-81ED-4DB2-BD59-A6C34878D82A}">
                    <a16:rowId xmlns:a16="http://schemas.microsoft.com/office/drawing/2014/main" val="601755763"/>
                  </a:ext>
                </a:extLst>
              </a:tr>
            </a:tbl>
          </a:graphicData>
        </a:graphic>
      </p:graphicFrame>
    </p:spTree>
    <p:extLst>
      <p:ext uri="{BB962C8B-B14F-4D97-AF65-F5344CB8AC3E}">
        <p14:creationId xmlns:p14="http://schemas.microsoft.com/office/powerpoint/2010/main" val="2235880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1FDF52-4368-4B79-919A-180C83145C54}"/>
              </a:ext>
            </a:extLst>
          </p:cNvPr>
          <p:cNvSpPr>
            <a:spLocks noGrp="1"/>
          </p:cNvSpPr>
          <p:nvPr>
            <p:ph idx="1"/>
          </p:nvPr>
        </p:nvSpPr>
        <p:spPr>
          <a:xfrm>
            <a:off x="677334" y="219919"/>
            <a:ext cx="8596668" cy="5821443"/>
          </a:xfrm>
        </p:spPr>
        <p:txBody>
          <a:bodyPr/>
          <a:lstStyle/>
          <a:p>
            <a:pPr algn="just"/>
            <a:r>
              <a:rPr lang="en-US" b="1" dirty="0"/>
              <a:t>2. Data Manipulation Language (DML)</a:t>
            </a:r>
          </a:p>
          <a:p>
            <a:pPr algn="just"/>
            <a:r>
              <a:rPr lang="en-US" dirty="0"/>
              <a:t>DML commands are used to </a:t>
            </a:r>
            <a:r>
              <a:rPr lang="en-US" b="1" dirty="0"/>
              <a:t>manipulate the data</a:t>
            </a:r>
            <a:r>
              <a:rPr lang="en-US" dirty="0"/>
              <a:t> stored within the database objects (tables). They perform CRUD operations (Create, Read, Update, Delete).</a:t>
            </a:r>
          </a:p>
          <a:p>
            <a:pPr algn="just"/>
            <a:endParaRPr lang="en-US" dirty="0"/>
          </a:p>
        </p:txBody>
      </p:sp>
      <p:graphicFrame>
        <p:nvGraphicFramePr>
          <p:cNvPr id="4" name="Table 3">
            <a:extLst>
              <a:ext uri="{FF2B5EF4-FFF2-40B4-BE49-F238E27FC236}">
                <a16:creationId xmlns:a16="http://schemas.microsoft.com/office/drawing/2014/main" id="{AD4713B2-E536-4345-A4E7-174515978831}"/>
              </a:ext>
            </a:extLst>
          </p:cNvPr>
          <p:cNvGraphicFramePr>
            <a:graphicFrameLocks noGrp="1"/>
          </p:cNvGraphicFramePr>
          <p:nvPr>
            <p:extLst>
              <p:ext uri="{D42A27DB-BD31-4B8C-83A1-F6EECF244321}">
                <p14:modId xmlns:p14="http://schemas.microsoft.com/office/powerpoint/2010/main" val="761214524"/>
              </p:ext>
            </p:extLst>
          </p:nvPr>
        </p:nvGraphicFramePr>
        <p:xfrm>
          <a:off x="677334" y="1877134"/>
          <a:ext cx="8596668" cy="3905171"/>
        </p:xfrm>
        <a:graphic>
          <a:graphicData uri="http://schemas.openxmlformats.org/drawingml/2006/table">
            <a:tbl>
              <a:tblPr firstRow="1" bandRow="1">
                <a:tableStyleId>{5C22544A-7EE6-4342-B048-85BDC9FD1C3A}</a:tableStyleId>
              </a:tblPr>
              <a:tblGrid>
                <a:gridCol w="1267213">
                  <a:extLst>
                    <a:ext uri="{9D8B030D-6E8A-4147-A177-3AD203B41FA5}">
                      <a16:colId xmlns:a16="http://schemas.microsoft.com/office/drawing/2014/main" val="1378814675"/>
                    </a:ext>
                  </a:extLst>
                </a:gridCol>
                <a:gridCol w="4463899">
                  <a:extLst>
                    <a:ext uri="{9D8B030D-6E8A-4147-A177-3AD203B41FA5}">
                      <a16:colId xmlns:a16="http://schemas.microsoft.com/office/drawing/2014/main" val="3817850887"/>
                    </a:ext>
                  </a:extLst>
                </a:gridCol>
                <a:gridCol w="2865556">
                  <a:extLst>
                    <a:ext uri="{9D8B030D-6E8A-4147-A177-3AD203B41FA5}">
                      <a16:colId xmlns:a16="http://schemas.microsoft.com/office/drawing/2014/main" val="972852698"/>
                    </a:ext>
                  </a:extLst>
                </a:gridCol>
              </a:tblGrid>
              <a:tr h="379929">
                <a:tc>
                  <a:txBody>
                    <a:bodyPr/>
                    <a:lstStyle/>
                    <a:p>
                      <a:pPr algn="just"/>
                      <a:r>
                        <a:rPr lang="en-US" dirty="0"/>
                        <a:t>Command</a:t>
                      </a:r>
                    </a:p>
                  </a:txBody>
                  <a:tcPr anchor="ctr"/>
                </a:tc>
                <a:tc>
                  <a:txBody>
                    <a:bodyPr/>
                    <a:lstStyle/>
                    <a:p>
                      <a:pPr algn="just"/>
                      <a:r>
                        <a:rPr lang="en-US" dirty="0"/>
                        <a:t>Purpose</a:t>
                      </a:r>
                    </a:p>
                  </a:txBody>
                  <a:tcPr anchor="ctr"/>
                </a:tc>
                <a:tc>
                  <a:txBody>
                    <a:bodyPr/>
                    <a:lstStyle/>
                    <a:p>
                      <a:pPr algn="just"/>
                      <a:r>
                        <a:rPr lang="en-US"/>
                        <a:t>Example</a:t>
                      </a:r>
                    </a:p>
                  </a:txBody>
                  <a:tcPr anchor="ctr"/>
                </a:tc>
                <a:extLst>
                  <a:ext uri="{0D108BD9-81ED-4DB2-BD59-A6C34878D82A}">
                    <a16:rowId xmlns:a16="http://schemas.microsoft.com/office/drawing/2014/main" val="2372507943"/>
                  </a:ext>
                </a:extLst>
              </a:tr>
              <a:tr h="782042">
                <a:tc>
                  <a:txBody>
                    <a:bodyPr/>
                    <a:lstStyle/>
                    <a:p>
                      <a:pPr algn="just"/>
                      <a:r>
                        <a:rPr lang="en-US" b="1"/>
                        <a:t>INSERT</a:t>
                      </a:r>
                      <a:endParaRPr lang="en-US"/>
                    </a:p>
                  </a:txBody>
                  <a:tcPr anchor="ctr"/>
                </a:tc>
                <a:tc>
                  <a:txBody>
                    <a:bodyPr/>
                    <a:lstStyle/>
                    <a:p>
                      <a:pPr algn="just"/>
                      <a:r>
                        <a:rPr lang="en-US"/>
                        <a:t>Used to add a new row of data into a table.</a:t>
                      </a:r>
                    </a:p>
                  </a:txBody>
                  <a:tcPr anchor="ctr"/>
                </a:tc>
                <a:tc>
                  <a:txBody>
                    <a:bodyPr/>
                    <a:lstStyle/>
                    <a:p>
                      <a:pPr algn="just"/>
                      <a:r>
                        <a:rPr lang="en-US"/>
                        <a:t>INSERT INTO Employee (EmpID, Name) VALUES (101, 'Rahul');</a:t>
                      </a:r>
                    </a:p>
                  </a:txBody>
                  <a:tcPr anchor="ctr"/>
                </a:tc>
                <a:extLst>
                  <a:ext uri="{0D108BD9-81ED-4DB2-BD59-A6C34878D82A}">
                    <a16:rowId xmlns:a16="http://schemas.microsoft.com/office/drawing/2014/main" val="1034303933"/>
                  </a:ext>
                </a:extLst>
              </a:tr>
              <a:tr h="782042">
                <a:tc>
                  <a:txBody>
                    <a:bodyPr/>
                    <a:lstStyle/>
                    <a:p>
                      <a:pPr algn="just"/>
                      <a:r>
                        <a:rPr lang="en-US" b="1"/>
                        <a:t>SELECT</a:t>
                      </a:r>
                      <a:endParaRPr lang="en-US"/>
                    </a:p>
                  </a:txBody>
                  <a:tcPr anchor="ctr"/>
                </a:tc>
                <a:tc>
                  <a:txBody>
                    <a:bodyPr/>
                    <a:lstStyle/>
                    <a:p>
                      <a:pPr algn="just"/>
                      <a:r>
                        <a:rPr lang="en-US"/>
                        <a:t>Used to retrieve data from the database (the 'Read' operation).</a:t>
                      </a:r>
                    </a:p>
                  </a:txBody>
                  <a:tcPr anchor="ctr"/>
                </a:tc>
                <a:tc>
                  <a:txBody>
                    <a:bodyPr/>
                    <a:lstStyle/>
                    <a:p>
                      <a:pPr algn="just"/>
                      <a:r>
                        <a:rPr lang="en-US"/>
                        <a:t>SELECT Name, Salary FROM Employee WHERE EmpID = 101;</a:t>
                      </a:r>
                    </a:p>
                  </a:txBody>
                  <a:tcPr anchor="ctr"/>
                </a:tc>
                <a:extLst>
                  <a:ext uri="{0D108BD9-81ED-4DB2-BD59-A6C34878D82A}">
                    <a16:rowId xmlns:a16="http://schemas.microsoft.com/office/drawing/2014/main" val="2558148483"/>
                  </a:ext>
                </a:extLst>
              </a:tr>
              <a:tr h="782042">
                <a:tc>
                  <a:txBody>
                    <a:bodyPr/>
                    <a:lstStyle/>
                    <a:p>
                      <a:pPr algn="just"/>
                      <a:r>
                        <a:rPr lang="en-US" b="1"/>
                        <a:t>UPDATE</a:t>
                      </a:r>
                      <a:endParaRPr lang="en-US"/>
                    </a:p>
                  </a:txBody>
                  <a:tcPr anchor="ctr"/>
                </a:tc>
                <a:tc>
                  <a:txBody>
                    <a:bodyPr/>
                    <a:lstStyle/>
                    <a:p>
                      <a:pPr algn="just"/>
                      <a:r>
                        <a:rPr lang="en-US"/>
                        <a:t>Used to modify existing data within a table.</a:t>
                      </a:r>
                    </a:p>
                  </a:txBody>
                  <a:tcPr anchor="ctr"/>
                </a:tc>
                <a:tc>
                  <a:txBody>
                    <a:bodyPr/>
                    <a:lstStyle/>
                    <a:p>
                      <a:pPr algn="just"/>
                      <a:r>
                        <a:rPr lang="en-US"/>
                        <a:t>UPDATE Employee SET Salary = 50000 WHERE EmpID = 101;</a:t>
                      </a:r>
                    </a:p>
                  </a:txBody>
                  <a:tcPr anchor="ctr"/>
                </a:tc>
                <a:extLst>
                  <a:ext uri="{0D108BD9-81ED-4DB2-BD59-A6C34878D82A}">
                    <a16:rowId xmlns:a16="http://schemas.microsoft.com/office/drawing/2014/main" val="3018472403"/>
                  </a:ext>
                </a:extLst>
              </a:tr>
              <a:tr h="782042">
                <a:tc>
                  <a:txBody>
                    <a:bodyPr/>
                    <a:lstStyle/>
                    <a:p>
                      <a:pPr algn="just"/>
                      <a:r>
                        <a:rPr lang="en-US" b="1"/>
                        <a:t>DELETE</a:t>
                      </a:r>
                      <a:endParaRPr lang="en-US"/>
                    </a:p>
                  </a:txBody>
                  <a:tcPr anchor="ctr"/>
                </a:tc>
                <a:tc>
                  <a:txBody>
                    <a:bodyPr/>
                    <a:lstStyle/>
                    <a:p>
                      <a:pPr algn="just"/>
                      <a:r>
                        <a:rPr lang="en-US"/>
                        <a:t>Used to delete specific rows of data from a table.</a:t>
                      </a:r>
                    </a:p>
                  </a:txBody>
                  <a:tcPr anchor="ctr"/>
                </a:tc>
                <a:tc>
                  <a:txBody>
                    <a:bodyPr/>
                    <a:lstStyle/>
                    <a:p>
                      <a:pPr algn="just"/>
                      <a:r>
                        <a:rPr lang="en-US" dirty="0"/>
                        <a:t>DELETE FROM Employee WHERE Salary IS NULL;</a:t>
                      </a:r>
                    </a:p>
                  </a:txBody>
                  <a:tcPr anchor="ctr"/>
                </a:tc>
                <a:extLst>
                  <a:ext uri="{0D108BD9-81ED-4DB2-BD59-A6C34878D82A}">
                    <a16:rowId xmlns:a16="http://schemas.microsoft.com/office/drawing/2014/main" val="4103220679"/>
                  </a:ext>
                </a:extLst>
              </a:tr>
            </a:tbl>
          </a:graphicData>
        </a:graphic>
      </p:graphicFrame>
    </p:spTree>
    <p:extLst>
      <p:ext uri="{BB962C8B-B14F-4D97-AF65-F5344CB8AC3E}">
        <p14:creationId xmlns:p14="http://schemas.microsoft.com/office/powerpoint/2010/main" val="694033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3092FB-5828-4AF1-B316-F89DA5D22CE0}"/>
              </a:ext>
            </a:extLst>
          </p:cNvPr>
          <p:cNvSpPr>
            <a:spLocks noGrp="1"/>
          </p:cNvSpPr>
          <p:nvPr>
            <p:ph idx="1"/>
          </p:nvPr>
        </p:nvSpPr>
        <p:spPr>
          <a:xfrm>
            <a:off x="677334" y="578735"/>
            <a:ext cx="8596668" cy="5462628"/>
          </a:xfrm>
        </p:spPr>
        <p:txBody>
          <a:bodyPr/>
          <a:lstStyle/>
          <a:p>
            <a:pPr algn="just"/>
            <a:r>
              <a:rPr lang="it-IT" dirty="0"/>
              <a:t>3. Data Control Language (DCL)</a:t>
            </a:r>
          </a:p>
          <a:p>
            <a:pPr algn="just"/>
            <a:r>
              <a:rPr lang="en-US" dirty="0"/>
              <a:t>DCL commands are used to </a:t>
            </a:r>
            <a:r>
              <a:rPr lang="en-US" b="1" dirty="0"/>
              <a:t>control access permissions</a:t>
            </a:r>
            <a:r>
              <a:rPr lang="en-US" dirty="0"/>
              <a:t> and manage rights and privileges of database users.</a:t>
            </a:r>
          </a:p>
          <a:p>
            <a:pPr algn="just"/>
            <a:endParaRPr lang="en-US" dirty="0"/>
          </a:p>
        </p:txBody>
      </p:sp>
      <p:graphicFrame>
        <p:nvGraphicFramePr>
          <p:cNvPr id="22" name="Table 21">
            <a:extLst>
              <a:ext uri="{FF2B5EF4-FFF2-40B4-BE49-F238E27FC236}">
                <a16:creationId xmlns:a16="http://schemas.microsoft.com/office/drawing/2014/main" id="{FB0810E4-A5CA-4604-A3BC-008574587A58}"/>
              </a:ext>
            </a:extLst>
          </p:cNvPr>
          <p:cNvGraphicFramePr>
            <a:graphicFrameLocks noGrp="1"/>
          </p:cNvGraphicFramePr>
          <p:nvPr>
            <p:extLst>
              <p:ext uri="{D42A27DB-BD31-4B8C-83A1-F6EECF244321}">
                <p14:modId xmlns:p14="http://schemas.microsoft.com/office/powerpoint/2010/main" val="616901167"/>
              </p:ext>
            </p:extLst>
          </p:nvPr>
        </p:nvGraphicFramePr>
        <p:xfrm>
          <a:off x="677334" y="1967675"/>
          <a:ext cx="8596667" cy="1920240"/>
        </p:xfrm>
        <a:graphic>
          <a:graphicData uri="http://schemas.openxmlformats.org/drawingml/2006/table">
            <a:tbl>
              <a:tblPr firstRow="1" bandRow="1">
                <a:tableStyleId>{5C22544A-7EE6-4342-B048-85BDC9FD1C3A}</a:tableStyleId>
              </a:tblPr>
              <a:tblGrid>
                <a:gridCol w="1382960">
                  <a:extLst>
                    <a:ext uri="{9D8B030D-6E8A-4147-A177-3AD203B41FA5}">
                      <a16:colId xmlns:a16="http://schemas.microsoft.com/office/drawing/2014/main" val="3946452583"/>
                    </a:ext>
                  </a:extLst>
                </a:gridCol>
                <a:gridCol w="4599632">
                  <a:extLst>
                    <a:ext uri="{9D8B030D-6E8A-4147-A177-3AD203B41FA5}">
                      <a16:colId xmlns:a16="http://schemas.microsoft.com/office/drawing/2014/main" val="3770085758"/>
                    </a:ext>
                  </a:extLst>
                </a:gridCol>
                <a:gridCol w="2614075">
                  <a:extLst>
                    <a:ext uri="{9D8B030D-6E8A-4147-A177-3AD203B41FA5}">
                      <a16:colId xmlns:a16="http://schemas.microsoft.com/office/drawing/2014/main" val="4012429763"/>
                    </a:ext>
                  </a:extLst>
                </a:gridCol>
              </a:tblGrid>
              <a:tr h="282089">
                <a:tc>
                  <a:txBody>
                    <a:bodyPr/>
                    <a:lstStyle/>
                    <a:p>
                      <a:pPr algn="just"/>
                      <a:r>
                        <a:rPr lang="en-US" dirty="0"/>
                        <a:t>Command</a:t>
                      </a:r>
                    </a:p>
                  </a:txBody>
                  <a:tcPr anchor="ctr"/>
                </a:tc>
                <a:tc>
                  <a:txBody>
                    <a:bodyPr/>
                    <a:lstStyle/>
                    <a:p>
                      <a:pPr algn="just"/>
                      <a:r>
                        <a:rPr lang="en-US"/>
                        <a:t>Purpose</a:t>
                      </a:r>
                    </a:p>
                  </a:txBody>
                  <a:tcPr anchor="ctr"/>
                </a:tc>
                <a:tc>
                  <a:txBody>
                    <a:bodyPr/>
                    <a:lstStyle/>
                    <a:p>
                      <a:pPr algn="just"/>
                      <a:r>
                        <a:rPr lang="en-US"/>
                        <a:t>Example</a:t>
                      </a:r>
                    </a:p>
                  </a:txBody>
                  <a:tcPr anchor="ctr"/>
                </a:tc>
                <a:extLst>
                  <a:ext uri="{0D108BD9-81ED-4DB2-BD59-A6C34878D82A}">
                    <a16:rowId xmlns:a16="http://schemas.microsoft.com/office/drawing/2014/main" val="36039102"/>
                  </a:ext>
                </a:extLst>
              </a:tr>
              <a:tr h="524510">
                <a:tc>
                  <a:txBody>
                    <a:bodyPr/>
                    <a:lstStyle/>
                    <a:p>
                      <a:pPr algn="just"/>
                      <a:r>
                        <a:rPr lang="en-US" b="1"/>
                        <a:t>GRANT</a:t>
                      </a:r>
                      <a:endParaRPr lang="en-US"/>
                    </a:p>
                  </a:txBody>
                  <a:tcPr anchor="ctr"/>
                </a:tc>
                <a:tc>
                  <a:txBody>
                    <a:bodyPr/>
                    <a:lstStyle/>
                    <a:p>
                      <a:pPr algn="just"/>
                      <a:r>
                        <a:rPr lang="en-US"/>
                        <a:t>Used to give a user access privileges to a database object.</a:t>
                      </a:r>
                    </a:p>
                  </a:txBody>
                  <a:tcPr anchor="ctr"/>
                </a:tc>
                <a:tc>
                  <a:txBody>
                    <a:bodyPr/>
                    <a:lstStyle/>
                    <a:p>
                      <a:pPr algn="just"/>
                      <a:r>
                        <a:rPr lang="en-US"/>
                        <a:t>GRANT SELECT ON Employee TO User_A;</a:t>
                      </a:r>
                    </a:p>
                  </a:txBody>
                  <a:tcPr anchor="ctr"/>
                </a:tc>
                <a:extLst>
                  <a:ext uri="{0D108BD9-81ED-4DB2-BD59-A6C34878D82A}">
                    <a16:rowId xmlns:a16="http://schemas.microsoft.com/office/drawing/2014/main" val="3143930043"/>
                  </a:ext>
                </a:extLst>
              </a:tr>
              <a:tr h="524510">
                <a:tc>
                  <a:txBody>
                    <a:bodyPr/>
                    <a:lstStyle/>
                    <a:p>
                      <a:pPr algn="just"/>
                      <a:r>
                        <a:rPr lang="en-US" b="1"/>
                        <a:t>REVOKE</a:t>
                      </a:r>
                      <a:endParaRPr lang="en-US"/>
                    </a:p>
                  </a:txBody>
                  <a:tcPr anchor="ctr"/>
                </a:tc>
                <a:tc>
                  <a:txBody>
                    <a:bodyPr/>
                    <a:lstStyle/>
                    <a:p>
                      <a:pPr algn="just"/>
                      <a:r>
                        <a:rPr lang="en-US"/>
                        <a:t>Used to remove access privileges from a user.</a:t>
                      </a:r>
                    </a:p>
                  </a:txBody>
                  <a:tcPr anchor="ctr"/>
                </a:tc>
                <a:tc>
                  <a:txBody>
                    <a:bodyPr/>
                    <a:lstStyle/>
                    <a:p>
                      <a:pPr algn="just"/>
                      <a:r>
                        <a:rPr lang="en-US" dirty="0"/>
                        <a:t>REVOKE INSERT ON Employee FROM </a:t>
                      </a:r>
                      <a:r>
                        <a:rPr lang="en-US" dirty="0" err="1"/>
                        <a:t>User_A</a:t>
                      </a:r>
                      <a:r>
                        <a:rPr lang="en-US" dirty="0"/>
                        <a:t>;</a:t>
                      </a:r>
                    </a:p>
                  </a:txBody>
                  <a:tcPr anchor="ctr"/>
                </a:tc>
                <a:extLst>
                  <a:ext uri="{0D108BD9-81ED-4DB2-BD59-A6C34878D82A}">
                    <a16:rowId xmlns:a16="http://schemas.microsoft.com/office/drawing/2014/main" val="2846785764"/>
                  </a:ext>
                </a:extLst>
              </a:tr>
            </a:tbl>
          </a:graphicData>
        </a:graphic>
      </p:graphicFrame>
    </p:spTree>
    <p:extLst>
      <p:ext uri="{BB962C8B-B14F-4D97-AF65-F5344CB8AC3E}">
        <p14:creationId xmlns:p14="http://schemas.microsoft.com/office/powerpoint/2010/main" val="1799572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53F67-3AFE-408E-B843-4A69A1BDDB96}"/>
              </a:ext>
            </a:extLst>
          </p:cNvPr>
          <p:cNvSpPr>
            <a:spLocks noGrp="1"/>
          </p:cNvSpPr>
          <p:nvPr>
            <p:ph type="title"/>
          </p:nvPr>
        </p:nvSpPr>
        <p:spPr>
          <a:xfrm>
            <a:off x="677334" y="609600"/>
            <a:ext cx="8596668" cy="941408"/>
          </a:xfrm>
        </p:spPr>
        <p:txBody>
          <a:bodyPr>
            <a:normAutofit/>
          </a:bodyPr>
          <a:lstStyle/>
          <a:p>
            <a:pPr algn="just"/>
            <a:r>
              <a:rPr lang="en-US" sz="2700" dirty="0"/>
              <a:t>(14)What is No-SQL? Give types of No-SQL Databases with examples. </a:t>
            </a:r>
          </a:p>
        </p:txBody>
      </p:sp>
      <p:sp>
        <p:nvSpPr>
          <p:cNvPr id="3" name="Content Placeholder 2">
            <a:extLst>
              <a:ext uri="{FF2B5EF4-FFF2-40B4-BE49-F238E27FC236}">
                <a16:creationId xmlns:a16="http://schemas.microsoft.com/office/drawing/2014/main" id="{D82A51B6-C5A6-4D8C-A199-FEF80BC7F96D}"/>
              </a:ext>
            </a:extLst>
          </p:cNvPr>
          <p:cNvSpPr>
            <a:spLocks noGrp="1"/>
          </p:cNvSpPr>
          <p:nvPr>
            <p:ph idx="1"/>
          </p:nvPr>
        </p:nvSpPr>
        <p:spPr>
          <a:xfrm>
            <a:off x="677334" y="1713053"/>
            <a:ext cx="8596668" cy="4328309"/>
          </a:xfrm>
        </p:spPr>
        <p:txBody>
          <a:bodyPr>
            <a:normAutofit/>
          </a:bodyPr>
          <a:lstStyle/>
          <a:p>
            <a:pPr algn="just"/>
            <a:r>
              <a:rPr lang="en-US" dirty="0"/>
              <a:t>NoSQL = “Not only SQL” – a broad class of non-relational databases designed for:</a:t>
            </a:r>
          </a:p>
          <a:p>
            <a:pPr algn="just"/>
            <a:r>
              <a:rPr lang="en-US" dirty="0"/>
              <a:t>High scalability</a:t>
            </a:r>
          </a:p>
          <a:p>
            <a:pPr algn="just"/>
            <a:r>
              <a:rPr lang="en-US" dirty="0"/>
              <a:t>Flexible schema-less structure</a:t>
            </a:r>
          </a:p>
          <a:p>
            <a:pPr algn="just"/>
            <a:r>
              <a:rPr lang="en-US" dirty="0"/>
              <a:t>Unstructured/semi-structured data</a:t>
            </a:r>
          </a:p>
          <a:p>
            <a:pPr algn="just"/>
            <a:r>
              <a:rPr lang="en-US" dirty="0"/>
              <a:t>Key Characteristics:</a:t>
            </a:r>
          </a:p>
          <a:p>
            <a:pPr algn="just"/>
            <a:r>
              <a:rPr lang="en-US" dirty="0"/>
              <a:t>Horizontal scalability (easier distributed architecture)</a:t>
            </a:r>
          </a:p>
          <a:p>
            <a:pPr algn="just"/>
            <a:r>
              <a:rPr lang="en-US" dirty="0"/>
              <a:t>Schema flexibility (can change structure anytime)</a:t>
            </a:r>
          </a:p>
          <a:p>
            <a:pPr algn="just"/>
            <a:r>
              <a:rPr lang="en-US" dirty="0"/>
              <a:t>High performance for specific workloads</a:t>
            </a:r>
          </a:p>
          <a:p>
            <a:pPr algn="just"/>
            <a:r>
              <a:rPr lang="en-US" dirty="0"/>
              <a:t>For better performance and availability use BASE: Basically Available, Soft state, Eventually consistent (NOT ACID)</a:t>
            </a:r>
          </a:p>
        </p:txBody>
      </p:sp>
    </p:spTree>
    <p:extLst>
      <p:ext uri="{BB962C8B-B14F-4D97-AF65-F5344CB8AC3E}">
        <p14:creationId xmlns:p14="http://schemas.microsoft.com/office/powerpoint/2010/main" val="35712914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55415-CFBF-499A-BD53-B9B953E2BC3C}"/>
              </a:ext>
            </a:extLst>
          </p:cNvPr>
          <p:cNvSpPr>
            <a:spLocks noGrp="1"/>
          </p:cNvSpPr>
          <p:nvPr>
            <p:ph type="title"/>
          </p:nvPr>
        </p:nvSpPr>
        <p:spPr>
          <a:xfrm>
            <a:off x="677334" y="609600"/>
            <a:ext cx="8596668" cy="744638"/>
          </a:xfrm>
        </p:spPr>
        <p:txBody>
          <a:bodyPr/>
          <a:lstStyle/>
          <a:p>
            <a:r>
              <a:rPr lang="en-US" dirty="0"/>
              <a:t>Types of NoSQL Databases:</a:t>
            </a:r>
          </a:p>
        </p:txBody>
      </p:sp>
      <p:graphicFrame>
        <p:nvGraphicFramePr>
          <p:cNvPr id="4" name="Content Placeholder 3">
            <a:extLst>
              <a:ext uri="{FF2B5EF4-FFF2-40B4-BE49-F238E27FC236}">
                <a16:creationId xmlns:a16="http://schemas.microsoft.com/office/drawing/2014/main" id="{0AB3A0FD-035E-4E34-A70B-DB97FF15DD37}"/>
              </a:ext>
            </a:extLst>
          </p:cNvPr>
          <p:cNvGraphicFramePr>
            <a:graphicFrameLocks noGrp="1"/>
          </p:cNvGraphicFramePr>
          <p:nvPr>
            <p:ph idx="1"/>
            <p:extLst>
              <p:ext uri="{D42A27DB-BD31-4B8C-83A1-F6EECF244321}">
                <p14:modId xmlns:p14="http://schemas.microsoft.com/office/powerpoint/2010/main" val="4023246498"/>
              </p:ext>
            </p:extLst>
          </p:nvPr>
        </p:nvGraphicFramePr>
        <p:xfrm>
          <a:off x="677863" y="1527175"/>
          <a:ext cx="8596311" cy="3392065"/>
        </p:xfrm>
        <a:graphic>
          <a:graphicData uri="http://schemas.openxmlformats.org/drawingml/2006/table">
            <a:tbl>
              <a:tblPr firstRow="1" bandRow="1">
                <a:tableStyleId>{5C22544A-7EE6-4342-B048-85BDC9FD1C3A}</a:tableStyleId>
              </a:tblPr>
              <a:tblGrid>
                <a:gridCol w="2157934">
                  <a:extLst>
                    <a:ext uri="{9D8B030D-6E8A-4147-A177-3AD203B41FA5}">
                      <a16:colId xmlns:a16="http://schemas.microsoft.com/office/drawing/2014/main" val="880233069"/>
                    </a:ext>
                  </a:extLst>
                </a:gridCol>
                <a:gridCol w="3572940">
                  <a:extLst>
                    <a:ext uri="{9D8B030D-6E8A-4147-A177-3AD203B41FA5}">
                      <a16:colId xmlns:a16="http://schemas.microsoft.com/office/drawing/2014/main" val="2200683818"/>
                    </a:ext>
                  </a:extLst>
                </a:gridCol>
                <a:gridCol w="2865437">
                  <a:extLst>
                    <a:ext uri="{9D8B030D-6E8A-4147-A177-3AD203B41FA5}">
                      <a16:colId xmlns:a16="http://schemas.microsoft.com/office/drawing/2014/main" val="2562320498"/>
                    </a:ext>
                  </a:extLst>
                </a:gridCol>
              </a:tblGrid>
              <a:tr h="472559">
                <a:tc>
                  <a:txBody>
                    <a:bodyPr/>
                    <a:lstStyle/>
                    <a:p>
                      <a:pPr algn="just"/>
                      <a:r>
                        <a:rPr lang="en-US" sz="1800" b="1" i="0" u="none" strike="noStrike" kern="1200" baseline="0" dirty="0">
                          <a:solidFill>
                            <a:schemeClr val="lt1"/>
                          </a:solidFill>
                          <a:latin typeface="+mn-lt"/>
                          <a:ea typeface="+mn-ea"/>
                          <a:cs typeface="+mn-cs"/>
                        </a:rPr>
                        <a:t>Type</a:t>
                      </a:r>
                      <a:endParaRPr lang="en-US" dirty="0"/>
                    </a:p>
                  </a:txBody>
                  <a:tcPr/>
                </a:tc>
                <a:tc>
                  <a:txBody>
                    <a:bodyPr/>
                    <a:lstStyle/>
                    <a:p>
                      <a:pPr algn="just"/>
                      <a:r>
                        <a:rPr lang="en-US" dirty="0"/>
                        <a:t>Description</a:t>
                      </a:r>
                    </a:p>
                  </a:txBody>
                  <a:tcPr/>
                </a:tc>
                <a:tc>
                  <a:txBody>
                    <a:bodyPr/>
                    <a:lstStyle/>
                    <a:p>
                      <a:pPr algn="just"/>
                      <a:r>
                        <a:rPr lang="en-US" sz="1800" b="1" i="0" u="none" strike="noStrike" kern="1200" baseline="0" dirty="0">
                          <a:solidFill>
                            <a:schemeClr val="lt1"/>
                          </a:solidFill>
                          <a:latin typeface="+mn-lt"/>
                          <a:ea typeface="+mn-ea"/>
                          <a:cs typeface="+mn-cs"/>
                        </a:rPr>
                        <a:t>Example</a:t>
                      </a:r>
                      <a:endParaRPr lang="en-US" dirty="0"/>
                    </a:p>
                  </a:txBody>
                  <a:tcPr/>
                </a:tc>
                <a:extLst>
                  <a:ext uri="{0D108BD9-81ED-4DB2-BD59-A6C34878D82A}">
                    <a16:rowId xmlns:a16="http://schemas.microsoft.com/office/drawing/2014/main" val="2259298052"/>
                  </a:ext>
                </a:extLst>
              </a:tr>
              <a:tr h="815649">
                <a:tc>
                  <a:txBody>
                    <a:bodyPr/>
                    <a:lstStyle/>
                    <a:p>
                      <a:pPr algn="just"/>
                      <a:r>
                        <a:rPr lang="en-US" dirty="0"/>
                        <a:t>Document-based</a:t>
                      </a:r>
                    </a:p>
                  </a:txBody>
                  <a:tcPr/>
                </a:tc>
                <a:tc>
                  <a:txBody>
                    <a:bodyPr/>
                    <a:lstStyle/>
                    <a:p>
                      <a:pPr algn="just"/>
                      <a:r>
                        <a:rPr lang="en-US" sz="1800" b="0" i="0" u="none" strike="noStrike" kern="1200" baseline="0" dirty="0">
                          <a:solidFill>
                            <a:schemeClr val="dk1"/>
                          </a:solidFill>
                          <a:latin typeface="+mn-lt"/>
                          <a:ea typeface="+mn-ea"/>
                          <a:cs typeface="+mn-cs"/>
                        </a:rPr>
                        <a:t>Store data in JSON-like documents</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MongoDB, CouchDB</a:t>
                      </a:r>
                      <a:endParaRPr lang="en-US" dirty="0"/>
                    </a:p>
                  </a:txBody>
                  <a:tcPr/>
                </a:tc>
                <a:extLst>
                  <a:ext uri="{0D108BD9-81ED-4DB2-BD59-A6C34878D82A}">
                    <a16:rowId xmlns:a16="http://schemas.microsoft.com/office/drawing/2014/main" val="694190422"/>
                  </a:ext>
                </a:extLst>
              </a:tr>
              <a:tr h="472559">
                <a:tc>
                  <a:txBody>
                    <a:bodyPr/>
                    <a:lstStyle/>
                    <a:p>
                      <a:pPr algn="just"/>
                      <a:r>
                        <a:rPr lang="en-US" dirty="0"/>
                        <a:t>Key-Value Stores</a:t>
                      </a:r>
                    </a:p>
                  </a:txBody>
                  <a:tcPr/>
                </a:tc>
                <a:tc>
                  <a:txBody>
                    <a:bodyPr/>
                    <a:lstStyle/>
                    <a:p>
                      <a:pPr algn="just"/>
                      <a:r>
                        <a:rPr lang="en-US" sz="1800" b="0" i="0" u="none" strike="noStrike" kern="1200" baseline="0" dirty="0">
                          <a:solidFill>
                            <a:schemeClr val="dk1"/>
                          </a:solidFill>
                          <a:latin typeface="+mn-lt"/>
                          <a:ea typeface="+mn-ea"/>
                          <a:cs typeface="+mn-cs"/>
                        </a:rPr>
                        <a:t>Simple key-value Pairs</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Redis, DynamoDB</a:t>
                      </a:r>
                      <a:endParaRPr lang="en-US" dirty="0"/>
                    </a:p>
                  </a:txBody>
                  <a:tcPr/>
                </a:tc>
                <a:extLst>
                  <a:ext uri="{0D108BD9-81ED-4DB2-BD59-A6C34878D82A}">
                    <a16:rowId xmlns:a16="http://schemas.microsoft.com/office/drawing/2014/main" val="2007840967"/>
                  </a:ext>
                </a:extLst>
              </a:tr>
              <a:tr h="815649">
                <a:tc>
                  <a:txBody>
                    <a:bodyPr/>
                    <a:lstStyle/>
                    <a:p>
                      <a:pPr algn="just"/>
                      <a:r>
                        <a:rPr lang="en-US" dirty="0"/>
                        <a:t>Column-based</a:t>
                      </a:r>
                    </a:p>
                  </a:txBody>
                  <a:tcPr/>
                </a:tc>
                <a:tc>
                  <a:txBody>
                    <a:bodyPr/>
                    <a:lstStyle/>
                    <a:p>
                      <a:pPr algn="just"/>
                      <a:r>
                        <a:rPr lang="en-US" sz="1800" b="0" i="0" u="none" strike="noStrike" kern="1200" baseline="0" dirty="0">
                          <a:solidFill>
                            <a:schemeClr val="dk1"/>
                          </a:solidFill>
                          <a:latin typeface="+mn-lt"/>
                          <a:ea typeface="+mn-ea"/>
                          <a:cs typeface="+mn-cs"/>
                        </a:rPr>
                        <a:t>Store data in columns for fast</a:t>
                      </a:r>
                    </a:p>
                    <a:p>
                      <a:pPr algn="just"/>
                      <a:r>
                        <a:rPr lang="en-US" sz="1800" b="0" i="0" u="none" strike="noStrike" kern="1200" baseline="0" dirty="0">
                          <a:solidFill>
                            <a:schemeClr val="dk1"/>
                          </a:solidFill>
                          <a:latin typeface="+mn-lt"/>
                          <a:ea typeface="+mn-ea"/>
                          <a:cs typeface="+mn-cs"/>
                        </a:rPr>
                        <a:t>Retrieval</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Cassandra, HBase</a:t>
                      </a:r>
                      <a:endParaRPr lang="en-US" dirty="0"/>
                    </a:p>
                  </a:txBody>
                  <a:tcPr/>
                </a:tc>
                <a:extLst>
                  <a:ext uri="{0D108BD9-81ED-4DB2-BD59-A6C34878D82A}">
                    <a16:rowId xmlns:a16="http://schemas.microsoft.com/office/drawing/2014/main" val="2745832343"/>
                  </a:ext>
                </a:extLst>
              </a:tr>
              <a:tr h="815649">
                <a:tc>
                  <a:txBody>
                    <a:bodyPr/>
                    <a:lstStyle/>
                    <a:p>
                      <a:pPr algn="just"/>
                      <a:r>
                        <a:rPr lang="en-US" dirty="0"/>
                        <a:t>Graph-based</a:t>
                      </a:r>
                    </a:p>
                  </a:txBody>
                  <a:tcPr/>
                </a:tc>
                <a:tc>
                  <a:txBody>
                    <a:bodyPr/>
                    <a:lstStyle/>
                    <a:p>
                      <a:pPr algn="just"/>
                      <a:r>
                        <a:rPr lang="en-US" sz="1800" b="0" i="0" u="none" strike="noStrike" kern="1200" baseline="0" dirty="0">
                          <a:solidFill>
                            <a:schemeClr val="dk1"/>
                          </a:solidFill>
                          <a:latin typeface="+mn-lt"/>
                          <a:ea typeface="+mn-ea"/>
                          <a:cs typeface="+mn-cs"/>
                        </a:rPr>
                        <a:t>Store data as nodes and relationships</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Neo4j, </a:t>
                      </a:r>
                      <a:r>
                        <a:rPr lang="en-US" sz="1800" b="0" i="0" u="none" strike="noStrike" kern="1200" baseline="0" dirty="0" err="1">
                          <a:solidFill>
                            <a:schemeClr val="dk1"/>
                          </a:solidFill>
                          <a:latin typeface="+mn-lt"/>
                          <a:ea typeface="+mn-ea"/>
                          <a:cs typeface="+mn-cs"/>
                        </a:rPr>
                        <a:t>ArangoDB</a:t>
                      </a:r>
                      <a:endParaRPr lang="en-US" dirty="0"/>
                    </a:p>
                  </a:txBody>
                  <a:tcPr/>
                </a:tc>
                <a:extLst>
                  <a:ext uri="{0D108BD9-81ED-4DB2-BD59-A6C34878D82A}">
                    <a16:rowId xmlns:a16="http://schemas.microsoft.com/office/drawing/2014/main" val="4285705882"/>
                  </a:ext>
                </a:extLst>
              </a:tr>
            </a:tbl>
          </a:graphicData>
        </a:graphic>
      </p:graphicFrame>
    </p:spTree>
    <p:extLst>
      <p:ext uri="{BB962C8B-B14F-4D97-AF65-F5344CB8AC3E}">
        <p14:creationId xmlns:p14="http://schemas.microsoft.com/office/powerpoint/2010/main" val="636468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888C9A-ADA1-40DD-A748-3B11DECE2318}"/>
              </a:ext>
            </a:extLst>
          </p:cNvPr>
          <p:cNvSpPr>
            <a:spLocks noGrp="1"/>
          </p:cNvSpPr>
          <p:nvPr>
            <p:ph idx="1"/>
          </p:nvPr>
        </p:nvSpPr>
        <p:spPr>
          <a:xfrm>
            <a:off x="677334" y="451413"/>
            <a:ext cx="8596668" cy="5589949"/>
          </a:xfrm>
        </p:spPr>
        <p:txBody>
          <a:bodyPr>
            <a:normAutofit lnSpcReduction="10000"/>
          </a:bodyPr>
          <a:lstStyle/>
          <a:p>
            <a:pPr algn="just"/>
            <a:r>
              <a:rPr lang="en-US" sz="2000" b="1" dirty="0"/>
              <a:t>1. Key-Value Stores</a:t>
            </a:r>
          </a:p>
          <a:p>
            <a:pPr algn="just"/>
            <a:r>
              <a:rPr lang="en-US" altLang="en-US" sz="2000" b="1" dirty="0">
                <a:solidFill>
                  <a:schemeClr val="tx1"/>
                </a:solidFill>
                <a:latin typeface="Arial" panose="020B0604020202020204" pitchFamily="34" charset="0"/>
              </a:rPr>
              <a:t>Model:</a:t>
            </a:r>
            <a:r>
              <a:rPr lang="en-US" altLang="en-US" sz="2000" dirty="0">
                <a:solidFill>
                  <a:schemeClr val="tx1"/>
                </a:solidFill>
                <a:latin typeface="Arial" panose="020B0604020202020204" pitchFamily="34" charset="0"/>
              </a:rPr>
              <a:t> Data is stored as a simple collection of </a:t>
            </a:r>
            <a:r>
              <a:rPr lang="en-US" altLang="en-US" sz="2000" b="1" dirty="0">
                <a:solidFill>
                  <a:schemeClr val="tx1"/>
                </a:solidFill>
                <a:latin typeface="Arial" panose="020B0604020202020204" pitchFamily="34" charset="0"/>
              </a:rPr>
              <a:t>keys</a:t>
            </a:r>
            <a:r>
              <a:rPr lang="en-US" altLang="en-US" sz="2000" dirty="0">
                <a:solidFill>
                  <a:schemeClr val="tx1"/>
                </a:solidFill>
                <a:latin typeface="Arial" panose="020B0604020202020204" pitchFamily="34" charset="0"/>
              </a:rPr>
              <a:t> (identifiers) and their associated </a:t>
            </a:r>
            <a:r>
              <a:rPr lang="en-US" altLang="en-US" sz="2000" b="1" dirty="0">
                <a:solidFill>
                  <a:schemeClr val="tx1"/>
                </a:solidFill>
                <a:latin typeface="Arial" panose="020B0604020202020204" pitchFamily="34" charset="0"/>
              </a:rPr>
              <a:t>values</a:t>
            </a:r>
            <a:r>
              <a:rPr lang="en-US" altLang="en-US" sz="2000" dirty="0">
                <a:solidFill>
                  <a:schemeClr val="tx1"/>
                </a:solidFill>
                <a:latin typeface="Arial" panose="020B0604020202020204" pitchFamily="34" charset="0"/>
              </a:rPr>
              <a:t>. This is the simplest NoSQL model, similar to a dictionary or hash map.</a:t>
            </a:r>
          </a:p>
          <a:p>
            <a:pPr algn="just"/>
            <a:r>
              <a:rPr lang="en-US" altLang="en-US" sz="2000" b="1" dirty="0">
                <a:solidFill>
                  <a:schemeClr val="tx1"/>
                </a:solidFill>
                <a:latin typeface="Arial" panose="020B0604020202020204" pitchFamily="34" charset="0"/>
              </a:rPr>
              <a:t>Best For:</a:t>
            </a:r>
            <a:r>
              <a:rPr lang="en-US" altLang="en-US" sz="2000" dirty="0">
                <a:solidFill>
                  <a:schemeClr val="tx1"/>
                </a:solidFill>
                <a:latin typeface="Arial" panose="020B0604020202020204" pitchFamily="34" charset="0"/>
              </a:rPr>
              <a:t> Caching, session management, and storing simple user profiles.</a:t>
            </a:r>
          </a:p>
          <a:p>
            <a:pPr algn="just"/>
            <a:r>
              <a:rPr lang="en-US" altLang="en-US" sz="2000" b="1" dirty="0">
                <a:solidFill>
                  <a:schemeClr val="tx1"/>
                </a:solidFill>
                <a:latin typeface="Arial" panose="020B0604020202020204" pitchFamily="34" charset="0"/>
              </a:rPr>
              <a:t>Example:</a:t>
            </a:r>
            <a:r>
              <a:rPr lang="en-US" altLang="en-US" sz="2000" dirty="0">
                <a:solidFill>
                  <a:schemeClr val="tx1"/>
                </a:solidFill>
                <a:latin typeface="Arial" panose="020B0604020202020204" pitchFamily="34" charset="0"/>
              </a:rPr>
              <a:t> </a:t>
            </a:r>
            <a:r>
              <a:rPr lang="en-US" altLang="en-US" sz="2000" b="1" dirty="0">
                <a:solidFill>
                  <a:schemeClr val="tx1"/>
                </a:solidFill>
                <a:latin typeface="Arial" panose="020B0604020202020204" pitchFamily="34" charset="0"/>
              </a:rPr>
              <a:t>Redis</a:t>
            </a:r>
            <a:r>
              <a:rPr lang="en-US" altLang="en-US" sz="2000" dirty="0">
                <a:solidFill>
                  <a:schemeClr val="tx1"/>
                </a:solidFill>
                <a:latin typeface="Arial" panose="020B0604020202020204" pitchFamily="34" charset="0"/>
              </a:rPr>
              <a:t>, </a:t>
            </a:r>
            <a:r>
              <a:rPr lang="en-US" altLang="en-US" sz="2000" b="1" dirty="0">
                <a:solidFill>
                  <a:schemeClr val="tx1"/>
                </a:solidFill>
                <a:latin typeface="Arial" panose="020B0604020202020204" pitchFamily="34" charset="0"/>
              </a:rPr>
              <a:t>Memcached</a:t>
            </a:r>
            <a:r>
              <a:rPr lang="en-US" altLang="en-US" sz="2000" dirty="0">
                <a:solidFill>
                  <a:schemeClr val="tx1"/>
                </a:solidFill>
                <a:latin typeface="Arial" panose="020B0604020202020204" pitchFamily="34" charset="0"/>
              </a:rPr>
              <a:t>, </a:t>
            </a:r>
            <a:r>
              <a:rPr lang="en-US" altLang="en-US" sz="2000" b="1" dirty="0">
                <a:solidFill>
                  <a:schemeClr val="tx1"/>
                </a:solidFill>
                <a:latin typeface="Arial" panose="020B0604020202020204" pitchFamily="34" charset="0"/>
              </a:rPr>
              <a:t>Amazon DynamoDB</a:t>
            </a:r>
            <a:r>
              <a:rPr lang="en-US" altLang="en-US" sz="2000" dirty="0">
                <a:solidFill>
                  <a:schemeClr val="tx1"/>
                </a:solidFill>
                <a:latin typeface="Arial" panose="020B0604020202020204" pitchFamily="34" charset="0"/>
              </a:rPr>
              <a:t>.</a:t>
            </a:r>
          </a:p>
          <a:p>
            <a:pPr algn="just"/>
            <a:endParaRPr lang="en-US" altLang="en-US" dirty="0">
              <a:solidFill>
                <a:schemeClr val="tx1"/>
              </a:solidFill>
              <a:latin typeface="Arial" panose="020B0604020202020204" pitchFamily="34" charset="0"/>
            </a:endParaRPr>
          </a:p>
          <a:p>
            <a:pPr algn="just"/>
            <a:r>
              <a:rPr lang="en-US" sz="2000" b="1" dirty="0"/>
              <a:t>2. Document Databases</a:t>
            </a:r>
          </a:p>
          <a:p>
            <a:pPr algn="just"/>
            <a:r>
              <a:rPr lang="en-US" sz="2000" b="1" dirty="0"/>
              <a:t>Model:</a:t>
            </a:r>
            <a:r>
              <a:rPr lang="en-US" sz="2000" dirty="0"/>
              <a:t> Data is stored in </a:t>
            </a:r>
            <a:r>
              <a:rPr lang="en-US" sz="2000" b="1" dirty="0"/>
              <a:t>documents</a:t>
            </a:r>
            <a:r>
              <a:rPr lang="en-US" sz="2000" dirty="0"/>
              <a:t>, which are usually in JSON (JavaScript Object Notation), BSON, or XML format. Documents can contain nested data structures and do not need to follow a fixed schema.</a:t>
            </a:r>
          </a:p>
          <a:p>
            <a:pPr algn="just"/>
            <a:r>
              <a:rPr lang="en-US" sz="2000" b="1" dirty="0"/>
              <a:t>Best For:</a:t>
            </a:r>
            <a:r>
              <a:rPr lang="en-US" sz="2000" dirty="0"/>
              <a:t> Content management systems, e-commerce product catalogs, and flexible data that frequently changes structure.</a:t>
            </a:r>
          </a:p>
          <a:p>
            <a:pPr algn="just"/>
            <a:r>
              <a:rPr lang="en-US" sz="2000" b="1" dirty="0"/>
              <a:t>Example:</a:t>
            </a:r>
            <a:r>
              <a:rPr lang="en-US" sz="2000" dirty="0"/>
              <a:t> </a:t>
            </a:r>
            <a:r>
              <a:rPr lang="en-US" sz="2000" b="1" dirty="0"/>
              <a:t>MongoDB</a:t>
            </a:r>
            <a:r>
              <a:rPr lang="en-US" sz="2000" dirty="0"/>
              <a:t>, </a:t>
            </a:r>
            <a:r>
              <a:rPr lang="en-US" sz="2000" b="1" dirty="0"/>
              <a:t>Couchbase</a:t>
            </a:r>
            <a:r>
              <a:rPr lang="en-US" sz="2000" dirty="0"/>
              <a:t>.</a:t>
            </a:r>
            <a:endParaRPr lang="en-US" altLang="en-US" sz="2000" b="1" dirty="0">
              <a:solidFill>
                <a:schemeClr val="tx1"/>
              </a:solidFill>
              <a:latin typeface="Arial" panose="020B0604020202020204" pitchFamily="34" charset="0"/>
            </a:endParaRPr>
          </a:p>
          <a:p>
            <a:pPr algn="just"/>
            <a:endParaRPr lang="en-US" altLang="en-US" dirty="0">
              <a:solidFill>
                <a:schemeClr val="tx1"/>
              </a:solidFill>
              <a:latin typeface="Arial" panose="020B0604020202020204" pitchFamily="34" charset="0"/>
            </a:endParaRPr>
          </a:p>
          <a:p>
            <a:pPr algn="just"/>
            <a:endParaRPr lang="en-US" altLang="en-US" dirty="0">
              <a:solidFill>
                <a:schemeClr val="tx1"/>
              </a:solidFill>
              <a:latin typeface="Arial" panose="020B0604020202020204" pitchFamily="34" charset="0"/>
            </a:endParaRPr>
          </a:p>
          <a:p>
            <a:pPr algn="just"/>
            <a:endParaRPr lang="en-US" dirty="0"/>
          </a:p>
        </p:txBody>
      </p:sp>
    </p:spTree>
    <p:extLst>
      <p:ext uri="{BB962C8B-B14F-4D97-AF65-F5344CB8AC3E}">
        <p14:creationId xmlns:p14="http://schemas.microsoft.com/office/powerpoint/2010/main" val="35994532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3EE7A-0CC9-4274-9A79-396595F57BD3}"/>
              </a:ext>
            </a:extLst>
          </p:cNvPr>
          <p:cNvSpPr>
            <a:spLocks noGrp="1"/>
          </p:cNvSpPr>
          <p:nvPr>
            <p:ph type="title"/>
          </p:nvPr>
        </p:nvSpPr>
        <p:spPr>
          <a:xfrm>
            <a:off x="677334" y="224549"/>
            <a:ext cx="8596668" cy="628891"/>
          </a:xfrm>
        </p:spPr>
        <p:txBody>
          <a:bodyPr>
            <a:normAutofit/>
          </a:bodyPr>
          <a:lstStyle/>
          <a:p>
            <a:r>
              <a:rPr lang="en-US" sz="2700" dirty="0"/>
              <a:t>(15)What are the components of DBMS? </a:t>
            </a:r>
          </a:p>
        </p:txBody>
      </p:sp>
      <p:graphicFrame>
        <p:nvGraphicFramePr>
          <p:cNvPr id="4" name="Content Placeholder 3">
            <a:extLst>
              <a:ext uri="{FF2B5EF4-FFF2-40B4-BE49-F238E27FC236}">
                <a16:creationId xmlns:a16="http://schemas.microsoft.com/office/drawing/2014/main" id="{11956D12-7460-466A-AEF9-0EC2B9B2BC7E}"/>
              </a:ext>
            </a:extLst>
          </p:cNvPr>
          <p:cNvGraphicFramePr>
            <a:graphicFrameLocks noGrp="1"/>
          </p:cNvGraphicFramePr>
          <p:nvPr>
            <p:ph idx="1"/>
            <p:extLst>
              <p:ext uri="{D42A27DB-BD31-4B8C-83A1-F6EECF244321}">
                <p14:modId xmlns:p14="http://schemas.microsoft.com/office/powerpoint/2010/main" val="1459528183"/>
              </p:ext>
            </p:extLst>
          </p:nvPr>
        </p:nvGraphicFramePr>
        <p:xfrm>
          <a:off x="677690" y="853440"/>
          <a:ext cx="8596312" cy="4846320"/>
        </p:xfrm>
        <a:graphic>
          <a:graphicData uri="http://schemas.openxmlformats.org/drawingml/2006/table">
            <a:tbl>
              <a:tblPr firstRow="1" bandRow="1">
                <a:tableStyleId>{5C22544A-7EE6-4342-B048-85BDC9FD1C3A}</a:tableStyleId>
              </a:tblPr>
              <a:tblGrid>
                <a:gridCol w="2678795">
                  <a:extLst>
                    <a:ext uri="{9D8B030D-6E8A-4147-A177-3AD203B41FA5}">
                      <a16:colId xmlns:a16="http://schemas.microsoft.com/office/drawing/2014/main" val="4154375838"/>
                    </a:ext>
                  </a:extLst>
                </a:gridCol>
                <a:gridCol w="5917517">
                  <a:extLst>
                    <a:ext uri="{9D8B030D-6E8A-4147-A177-3AD203B41FA5}">
                      <a16:colId xmlns:a16="http://schemas.microsoft.com/office/drawing/2014/main" val="4105820230"/>
                    </a:ext>
                  </a:extLst>
                </a:gridCol>
              </a:tblGrid>
              <a:tr h="590860">
                <a:tc>
                  <a:txBody>
                    <a:bodyPr/>
                    <a:lstStyle/>
                    <a:p>
                      <a:pPr algn="just"/>
                      <a:r>
                        <a:rPr lang="en-US" sz="1800" b="0" i="0" u="none" strike="noStrike" kern="1200" baseline="0" dirty="0">
                          <a:solidFill>
                            <a:schemeClr val="lt1"/>
                          </a:solidFill>
                          <a:latin typeface="+mn-lt"/>
                          <a:ea typeface="+mn-ea"/>
                          <a:cs typeface="+mn-cs"/>
                        </a:rPr>
                        <a:t>Database Engine</a:t>
                      </a:r>
                      <a:endParaRPr lang="en-US" dirty="0"/>
                    </a:p>
                  </a:txBody>
                  <a:tcPr/>
                </a:tc>
                <a:tc>
                  <a:txBody>
                    <a:bodyPr/>
                    <a:lstStyle/>
                    <a:p>
                      <a:pPr algn="just"/>
                      <a:r>
                        <a:rPr lang="en-US" sz="1800" b="0" i="0" u="none" strike="noStrike" kern="1200" baseline="0" dirty="0">
                          <a:solidFill>
                            <a:schemeClr val="lt1"/>
                          </a:solidFill>
                          <a:latin typeface="+mn-lt"/>
                          <a:ea typeface="+mn-ea"/>
                          <a:cs typeface="+mn-cs"/>
                        </a:rPr>
                        <a:t>The core service for accessing and processing data. It</a:t>
                      </a:r>
                    </a:p>
                    <a:p>
                      <a:pPr algn="just"/>
                      <a:r>
                        <a:rPr lang="en-US" sz="1800" b="0" i="0" u="none" strike="noStrike" kern="1200" baseline="0" dirty="0">
                          <a:solidFill>
                            <a:schemeClr val="lt1"/>
                          </a:solidFill>
                          <a:latin typeface="+mn-lt"/>
                          <a:ea typeface="+mn-ea"/>
                          <a:cs typeface="+mn-cs"/>
                        </a:rPr>
                        <a:t>handles storage, query processing, and transaction</a:t>
                      </a:r>
                    </a:p>
                    <a:p>
                      <a:pPr algn="just"/>
                      <a:r>
                        <a:rPr lang="en-US" sz="1800" b="0" i="0" u="none" strike="noStrike" kern="1200" baseline="0" dirty="0">
                          <a:solidFill>
                            <a:schemeClr val="lt1"/>
                          </a:solidFill>
                          <a:latin typeface="+mn-lt"/>
                          <a:ea typeface="+mn-ea"/>
                          <a:cs typeface="+mn-cs"/>
                        </a:rPr>
                        <a:t>management.</a:t>
                      </a:r>
                      <a:endParaRPr lang="en-US" dirty="0"/>
                    </a:p>
                  </a:txBody>
                  <a:tcPr/>
                </a:tc>
                <a:extLst>
                  <a:ext uri="{0D108BD9-81ED-4DB2-BD59-A6C34878D82A}">
                    <a16:rowId xmlns:a16="http://schemas.microsoft.com/office/drawing/2014/main" val="614878448"/>
                  </a:ext>
                </a:extLst>
              </a:tr>
              <a:tr h="370840">
                <a:tc>
                  <a:txBody>
                    <a:bodyPr/>
                    <a:lstStyle/>
                    <a:p>
                      <a:pPr algn="just"/>
                      <a:r>
                        <a:rPr lang="en-US" sz="1800" b="0" i="0" u="none" strike="noStrike" kern="1200" baseline="0" dirty="0">
                          <a:solidFill>
                            <a:schemeClr val="dk1"/>
                          </a:solidFill>
                          <a:latin typeface="+mn-lt"/>
                          <a:ea typeface="+mn-ea"/>
                          <a:cs typeface="+mn-cs"/>
                        </a:rPr>
                        <a:t>Data Definition Language (DDL)</a:t>
                      </a:r>
                    </a:p>
                    <a:p>
                      <a:pPr algn="just"/>
                      <a:r>
                        <a:rPr lang="en-US" sz="1800" b="0" i="0" u="none" strike="noStrike" kern="1200" baseline="0" dirty="0">
                          <a:solidFill>
                            <a:schemeClr val="dk1"/>
                          </a:solidFill>
                          <a:latin typeface="+mn-lt"/>
                          <a:ea typeface="+mn-ea"/>
                          <a:cs typeface="+mn-cs"/>
                        </a:rPr>
                        <a:t>Compiler</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Interprets and processes DDL statements like CREATE,</a:t>
                      </a:r>
                    </a:p>
                    <a:p>
                      <a:pPr algn="just"/>
                      <a:r>
                        <a:rPr lang="en-US" sz="1800" b="0" i="0" u="none" strike="noStrike" kern="1200" baseline="0" dirty="0">
                          <a:solidFill>
                            <a:schemeClr val="dk1"/>
                          </a:solidFill>
                          <a:latin typeface="+mn-lt"/>
                          <a:ea typeface="+mn-ea"/>
                          <a:cs typeface="+mn-cs"/>
                        </a:rPr>
                        <a:t>ALTER, DROP to define schema and structure of the</a:t>
                      </a:r>
                    </a:p>
                    <a:p>
                      <a:pPr algn="just"/>
                      <a:r>
                        <a:rPr lang="en-US" sz="1800" b="0" i="0" u="none" strike="noStrike" kern="1200" baseline="0" dirty="0">
                          <a:solidFill>
                            <a:schemeClr val="dk1"/>
                          </a:solidFill>
                          <a:latin typeface="+mn-lt"/>
                          <a:ea typeface="+mn-ea"/>
                          <a:cs typeface="+mn-cs"/>
                        </a:rPr>
                        <a:t>database.</a:t>
                      </a:r>
                      <a:endParaRPr lang="en-US" dirty="0"/>
                    </a:p>
                  </a:txBody>
                  <a:tcPr/>
                </a:tc>
                <a:extLst>
                  <a:ext uri="{0D108BD9-81ED-4DB2-BD59-A6C34878D82A}">
                    <a16:rowId xmlns:a16="http://schemas.microsoft.com/office/drawing/2014/main" val="1038921048"/>
                  </a:ext>
                </a:extLst>
              </a:tr>
              <a:tr h="370840">
                <a:tc>
                  <a:txBody>
                    <a:bodyPr/>
                    <a:lstStyle/>
                    <a:p>
                      <a:pPr algn="just"/>
                      <a:r>
                        <a:rPr lang="en-US" sz="1800" b="0" i="0" u="none" strike="noStrike" kern="1200" baseline="0" dirty="0">
                          <a:solidFill>
                            <a:schemeClr val="dk1"/>
                          </a:solidFill>
                          <a:latin typeface="+mn-lt"/>
                          <a:ea typeface="+mn-ea"/>
                          <a:cs typeface="+mn-cs"/>
                        </a:rPr>
                        <a:t>Data Manipulation Language</a:t>
                      </a:r>
                    </a:p>
                    <a:p>
                      <a:pPr algn="just"/>
                      <a:r>
                        <a:rPr lang="en-US" sz="1800" b="0" i="0" u="none" strike="noStrike" kern="1200" baseline="0" dirty="0">
                          <a:solidFill>
                            <a:schemeClr val="dk1"/>
                          </a:solidFill>
                          <a:latin typeface="+mn-lt"/>
                          <a:ea typeface="+mn-ea"/>
                          <a:cs typeface="+mn-cs"/>
                        </a:rPr>
                        <a:t>(DML) Compiler</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Translates DML statements (INSERT, UPDATE, DELETE,</a:t>
                      </a:r>
                    </a:p>
                    <a:p>
                      <a:pPr algn="just"/>
                      <a:r>
                        <a:rPr lang="en-US" sz="1800" b="0" i="0" u="none" strike="noStrike" kern="1200" baseline="0" dirty="0">
                          <a:solidFill>
                            <a:schemeClr val="dk1"/>
                          </a:solidFill>
                          <a:latin typeface="+mn-lt"/>
                          <a:ea typeface="+mn-ea"/>
                          <a:cs typeface="+mn-cs"/>
                        </a:rPr>
                        <a:t>SELECT) into low-level instructions the DBMS engine can execute.</a:t>
                      </a:r>
                      <a:endParaRPr lang="en-US" dirty="0"/>
                    </a:p>
                  </a:txBody>
                  <a:tcPr/>
                </a:tc>
                <a:extLst>
                  <a:ext uri="{0D108BD9-81ED-4DB2-BD59-A6C34878D82A}">
                    <a16:rowId xmlns:a16="http://schemas.microsoft.com/office/drawing/2014/main" val="2690554443"/>
                  </a:ext>
                </a:extLst>
              </a:tr>
              <a:tr h="370840">
                <a:tc>
                  <a:txBody>
                    <a:bodyPr/>
                    <a:lstStyle/>
                    <a:p>
                      <a:pPr algn="just"/>
                      <a:r>
                        <a:rPr lang="en-US" sz="1800" b="0" i="0" u="none" strike="noStrike" kern="1200" baseline="0" dirty="0">
                          <a:solidFill>
                            <a:schemeClr val="dk1"/>
                          </a:solidFill>
                          <a:latin typeface="+mn-lt"/>
                          <a:ea typeface="+mn-ea"/>
                          <a:cs typeface="+mn-cs"/>
                        </a:rPr>
                        <a:t>Query Processor</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Analyzes, parses, and optimizes SQL queries before</a:t>
                      </a:r>
                    </a:p>
                    <a:p>
                      <a:pPr algn="just"/>
                      <a:r>
                        <a:rPr lang="en-US" sz="1800" b="0" i="0" u="none" strike="noStrike" kern="1200" baseline="0" dirty="0">
                          <a:solidFill>
                            <a:schemeClr val="dk1"/>
                          </a:solidFill>
                          <a:latin typeface="+mn-lt"/>
                          <a:ea typeface="+mn-ea"/>
                          <a:cs typeface="+mn-cs"/>
                        </a:rPr>
                        <a:t>execution. Converts high-level queries into efficient</a:t>
                      </a:r>
                    </a:p>
                    <a:p>
                      <a:pPr algn="just"/>
                      <a:r>
                        <a:rPr lang="en-US" sz="1800" b="0" i="0" u="none" strike="noStrike" kern="1200" baseline="0" dirty="0">
                          <a:solidFill>
                            <a:schemeClr val="dk1"/>
                          </a:solidFill>
                          <a:latin typeface="+mn-lt"/>
                          <a:ea typeface="+mn-ea"/>
                          <a:cs typeface="+mn-cs"/>
                        </a:rPr>
                        <a:t>execution plans.</a:t>
                      </a:r>
                      <a:endParaRPr lang="en-US" dirty="0"/>
                    </a:p>
                  </a:txBody>
                  <a:tcPr/>
                </a:tc>
                <a:extLst>
                  <a:ext uri="{0D108BD9-81ED-4DB2-BD59-A6C34878D82A}">
                    <a16:rowId xmlns:a16="http://schemas.microsoft.com/office/drawing/2014/main" val="3328427825"/>
                  </a:ext>
                </a:extLst>
              </a:tr>
              <a:tr h="370840">
                <a:tc>
                  <a:txBody>
                    <a:bodyPr/>
                    <a:lstStyle/>
                    <a:p>
                      <a:pPr algn="just"/>
                      <a:r>
                        <a:rPr lang="en-US" sz="1800" b="0" i="0" u="none" strike="noStrike" kern="1200" baseline="0" dirty="0">
                          <a:solidFill>
                            <a:schemeClr val="dk1"/>
                          </a:solidFill>
                          <a:latin typeface="+mn-lt"/>
                          <a:ea typeface="+mn-ea"/>
                          <a:cs typeface="+mn-cs"/>
                        </a:rPr>
                        <a:t>Transaction Manager</a:t>
                      </a:r>
                      <a:endParaRPr lang="en-US" dirty="0"/>
                    </a:p>
                  </a:txBody>
                  <a:tcPr/>
                </a:tc>
                <a:tc>
                  <a:txBody>
                    <a:bodyPr/>
                    <a:lstStyle/>
                    <a:p>
                      <a:pPr algn="just"/>
                      <a:r>
                        <a:rPr lang="en-US" sz="1800" b="0" i="0" u="none" strike="noStrike" kern="1200" baseline="0" dirty="0">
                          <a:solidFill>
                            <a:schemeClr val="dk1"/>
                          </a:solidFill>
                          <a:latin typeface="+mn-lt"/>
                          <a:ea typeface="+mn-ea"/>
                          <a:cs typeface="+mn-cs"/>
                        </a:rPr>
                        <a:t>Ensures ACID properties (Atomicity, Consistency, Isolation, Durability) during transactions. Manages concurrency and</a:t>
                      </a:r>
                    </a:p>
                    <a:p>
                      <a:pPr algn="just"/>
                      <a:r>
                        <a:rPr lang="en-US" sz="1800" b="0" i="0" u="none" strike="noStrike" kern="1200" baseline="0" dirty="0">
                          <a:solidFill>
                            <a:schemeClr val="dk1"/>
                          </a:solidFill>
                          <a:latin typeface="+mn-lt"/>
                          <a:ea typeface="+mn-ea"/>
                          <a:cs typeface="+mn-cs"/>
                        </a:rPr>
                        <a:t>crash recovery.</a:t>
                      </a:r>
                      <a:endParaRPr lang="en-US" dirty="0"/>
                    </a:p>
                  </a:txBody>
                  <a:tcPr/>
                </a:tc>
                <a:extLst>
                  <a:ext uri="{0D108BD9-81ED-4DB2-BD59-A6C34878D82A}">
                    <a16:rowId xmlns:a16="http://schemas.microsoft.com/office/drawing/2014/main" val="3543602700"/>
                  </a:ext>
                </a:extLst>
              </a:tr>
            </a:tbl>
          </a:graphicData>
        </a:graphic>
      </p:graphicFrame>
    </p:spTree>
    <p:extLst>
      <p:ext uri="{BB962C8B-B14F-4D97-AF65-F5344CB8AC3E}">
        <p14:creationId xmlns:p14="http://schemas.microsoft.com/office/powerpoint/2010/main" val="2173633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E6136CC-FF2D-4BA5-97B2-99FED0E739B8}"/>
              </a:ext>
            </a:extLst>
          </p:cNvPr>
          <p:cNvGraphicFramePr>
            <a:graphicFrameLocks noGrp="1"/>
          </p:cNvGraphicFramePr>
          <p:nvPr>
            <p:ph idx="1"/>
            <p:extLst>
              <p:ext uri="{D42A27DB-BD31-4B8C-83A1-F6EECF244321}">
                <p14:modId xmlns:p14="http://schemas.microsoft.com/office/powerpoint/2010/main" val="1241372158"/>
              </p:ext>
            </p:extLst>
          </p:nvPr>
        </p:nvGraphicFramePr>
        <p:xfrm>
          <a:off x="492667" y="505408"/>
          <a:ext cx="8940700" cy="4610600"/>
        </p:xfrm>
        <a:graphic>
          <a:graphicData uri="http://schemas.openxmlformats.org/drawingml/2006/table">
            <a:tbl>
              <a:tblPr firstRow="1" bandRow="1">
                <a:tableStyleId>{5C22544A-7EE6-4342-B048-85BDC9FD1C3A}</a:tableStyleId>
              </a:tblPr>
              <a:tblGrid>
                <a:gridCol w="2942613">
                  <a:extLst>
                    <a:ext uri="{9D8B030D-6E8A-4147-A177-3AD203B41FA5}">
                      <a16:colId xmlns:a16="http://schemas.microsoft.com/office/drawing/2014/main" val="2451363062"/>
                    </a:ext>
                  </a:extLst>
                </a:gridCol>
                <a:gridCol w="5998087">
                  <a:extLst>
                    <a:ext uri="{9D8B030D-6E8A-4147-A177-3AD203B41FA5}">
                      <a16:colId xmlns:a16="http://schemas.microsoft.com/office/drawing/2014/main" val="3538392004"/>
                    </a:ext>
                  </a:extLst>
                </a:gridCol>
              </a:tblGrid>
              <a:tr h="922120">
                <a:tc>
                  <a:txBody>
                    <a:bodyPr/>
                    <a:lstStyle/>
                    <a:p>
                      <a:pPr algn="just"/>
                      <a:r>
                        <a:rPr lang="en-US" dirty="0"/>
                        <a:t>Storage Manager</a:t>
                      </a:r>
                    </a:p>
                  </a:txBody>
                  <a:tcPr/>
                </a:tc>
                <a:tc>
                  <a:txBody>
                    <a:bodyPr/>
                    <a:lstStyle/>
                    <a:p>
                      <a:pPr algn="just"/>
                      <a:r>
                        <a:rPr lang="en-US" sz="1800" b="0" i="0" u="none" strike="noStrike" kern="1200" baseline="0" dirty="0">
                          <a:solidFill>
                            <a:schemeClr val="lt1"/>
                          </a:solidFill>
                          <a:latin typeface="+mn-lt"/>
                          <a:ea typeface="+mn-ea"/>
                          <a:cs typeface="+mn-cs"/>
                        </a:rPr>
                        <a:t>Manages storage space on disk and memory. It handles data</a:t>
                      </a:r>
                    </a:p>
                    <a:p>
                      <a:pPr algn="just"/>
                      <a:r>
                        <a:rPr lang="en-US" sz="1800" b="0" i="0" u="none" strike="noStrike" kern="1200" baseline="0" dirty="0">
                          <a:solidFill>
                            <a:schemeClr val="lt1"/>
                          </a:solidFill>
                          <a:latin typeface="+mn-lt"/>
                          <a:ea typeface="+mn-ea"/>
                          <a:cs typeface="+mn-cs"/>
                        </a:rPr>
                        <a:t>files, indexes, and data buffering for optimized access.</a:t>
                      </a:r>
                      <a:endParaRPr lang="en-US" dirty="0"/>
                    </a:p>
                  </a:txBody>
                  <a:tcPr/>
                </a:tc>
                <a:extLst>
                  <a:ext uri="{0D108BD9-81ED-4DB2-BD59-A6C34878D82A}">
                    <a16:rowId xmlns:a16="http://schemas.microsoft.com/office/drawing/2014/main" val="1087586821"/>
                  </a:ext>
                </a:extLst>
              </a:tr>
              <a:tr h="922120">
                <a:tc>
                  <a:txBody>
                    <a:bodyPr/>
                    <a:lstStyle/>
                    <a:p>
                      <a:pPr algn="just"/>
                      <a:r>
                        <a:rPr lang="en-US" dirty="0"/>
                        <a:t>Buffer Manager</a:t>
                      </a:r>
                    </a:p>
                  </a:txBody>
                  <a:tcPr/>
                </a:tc>
                <a:tc>
                  <a:txBody>
                    <a:bodyPr/>
                    <a:lstStyle/>
                    <a:p>
                      <a:pPr algn="just"/>
                      <a:r>
                        <a:rPr lang="en-US" sz="1800" b="0" i="0" u="none" strike="noStrike" kern="1200" baseline="0" dirty="0">
                          <a:solidFill>
                            <a:schemeClr val="dk1"/>
                          </a:solidFill>
                          <a:latin typeface="+mn-lt"/>
                          <a:ea typeface="+mn-ea"/>
                          <a:cs typeface="+mn-cs"/>
                        </a:rPr>
                        <a:t>Controls data transfer between disk and main memory (RAM). Keeps frequently used data in memory for faster access.</a:t>
                      </a:r>
                      <a:endParaRPr lang="en-US" dirty="0"/>
                    </a:p>
                  </a:txBody>
                  <a:tcPr/>
                </a:tc>
                <a:extLst>
                  <a:ext uri="{0D108BD9-81ED-4DB2-BD59-A6C34878D82A}">
                    <a16:rowId xmlns:a16="http://schemas.microsoft.com/office/drawing/2014/main" val="337322425"/>
                  </a:ext>
                </a:extLst>
              </a:tr>
              <a:tr h="922120">
                <a:tc>
                  <a:txBody>
                    <a:bodyPr/>
                    <a:lstStyle/>
                    <a:p>
                      <a:pPr algn="just"/>
                      <a:r>
                        <a:rPr lang="en-US" dirty="0"/>
                        <a:t>Authorization and Integrity Manager</a:t>
                      </a:r>
                    </a:p>
                  </a:txBody>
                  <a:tcPr/>
                </a:tc>
                <a:tc>
                  <a:txBody>
                    <a:bodyPr/>
                    <a:lstStyle/>
                    <a:p>
                      <a:pPr algn="just"/>
                      <a:r>
                        <a:rPr lang="en-US" sz="1800" b="0" i="0" u="none" strike="noStrike" kern="1200" baseline="0" dirty="0">
                          <a:solidFill>
                            <a:schemeClr val="dk1"/>
                          </a:solidFill>
                          <a:latin typeface="+mn-lt"/>
                          <a:ea typeface="+mn-ea"/>
                          <a:cs typeface="+mn-cs"/>
                        </a:rPr>
                        <a:t>Enforces user access controls and data validation rules.</a:t>
                      </a:r>
                    </a:p>
                    <a:p>
                      <a:pPr algn="just"/>
                      <a:r>
                        <a:rPr lang="en-US" sz="1800" b="0" i="0" u="none" strike="noStrike" kern="1200" baseline="0" dirty="0">
                          <a:solidFill>
                            <a:schemeClr val="dk1"/>
                          </a:solidFill>
                          <a:latin typeface="+mn-lt"/>
                          <a:ea typeface="+mn-ea"/>
                          <a:cs typeface="+mn-cs"/>
                        </a:rPr>
                        <a:t>Ensures only authorized users can access or modify the data.</a:t>
                      </a:r>
                      <a:endParaRPr lang="en-US" dirty="0"/>
                    </a:p>
                  </a:txBody>
                  <a:tcPr/>
                </a:tc>
                <a:extLst>
                  <a:ext uri="{0D108BD9-81ED-4DB2-BD59-A6C34878D82A}">
                    <a16:rowId xmlns:a16="http://schemas.microsoft.com/office/drawing/2014/main" val="3519655752"/>
                  </a:ext>
                </a:extLst>
              </a:tr>
              <a:tr h="922120">
                <a:tc>
                  <a:txBody>
                    <a:bodyPr/>
                    <a:lstStyle/>
                    <a:p>
                      <a:pPr algn="just"/>
                      <a:r>
                        <a:rPr lang="en-US" dirty="0"/>
                        <a:t>Catalog/Metadata Manager</a:t>
                      </a:r>
                    </a:p>
                  </a:txBody>
                  <a:tcPr/>
                </a:tc>
                <a:tc>
                  <a:txBody>
                    <a:bodyPr/>
                    <a:lstStyle/>
                    <a:p>
                      <a:pPr algn="just"/>
                      <a:r>
                        <a:rPr lang="en-US" sz="1800" b="0" i="0" u="none" strike="noStrike" kern="1200" baseline="0" dirty="0">
                          <a:solidFill>
                            <a:schemeClr val="dk1"/>
                          </a:solidFill>
                          <a:latin typeface="+mn-lt"/>
                          <a:ea typeface="+mn-ea"/>
                          <a:cs typeface="+mn-cs"/>
                        </a:rPr>
                        <a:t>Maintains metadata — data about database structure like </a:t>
                      </a:r>
                      <a:r>
                        <a:rPr lang="fr-FR" sz="1800" b="0" i="0" u="none" strike="noStrike" kern="1200" baseline="0" dirty="0">
                          <a:solidFill>
                            <a:schemeClr val="dk1"/>
                          </a:solidFill>
                          <a:latin typeface="+mn-lt"/>
                          <a:ea typeface="+mn-ea"/>
                          <a:cs typeface="+mn-cs"/>
                        </a:rPr>
                        <a:t>tables, </a:t>
                      </a:r>
                      <a:r>
                        <a:rPr lang="fr-FR" sz="1800" b="0" i="0" u="none" strike="noStrike" kern="1200" baseline="0" dirty="0" err="1">
                          <a:solidFill>
                            <a:schemeClr val="dk1"/>
                          </a:solidFill>
                          <a:latin typeface="+mn-lt"/>
                          <a:ea typeface="+mn-ea"/>
                          <a:cs typeface="+mn-cs"/>
                        </a:rPr>
                        <a:t>columns</a:t>
                      </a:r>
                      <a:r>
                        <a:rPr lang="fr-FR" sz="1800" b="0" i="0" u="none" strike="noStrike" kern="1200" baseline="0" dirty="0">
                          <a:solidFill>
                            <a:schemeClr val="dk1"/>
                          </a:solidFill>
                          <a:latin typeface="+mn-lt"/>
                          <a:ea typeface="+mn-ea"/>
                          <a:cs typeface="+mn-cs"/>
                        </a:rPr>
                        <a:t>, data types, indexes, </a:t>
                      </a:r>
                      <a:r>
                        <a:rPr lang="fr-FR" sz="1800" b="0" i="0" u="none" strike="noStrike" kern="1200" baseline="0" dirty="0" err="1">
                          <a:solidFill>
                            <a:schemeClr val="dk1"/>
                          </a:solidFill>
                          <a:latin typeface="+mn-lt"/>
                          <a:ea typeface="+mn-ea"/>
                          <a:cs typeface="+mn-cs"/>
                        </a:rPr>
                        <a:t>constraints</a:t>
                      </a:r>
                      <a:r>
                        <a:rPr lang="fr-FR" sz="1800" b="0" i="0" u="none" strike="noStrike" kern="1200" baseline="0" dirty="0">
                          <a:solidFill>
                            <a:schemeClr val="dk1"/>
                          </a:solidFill>
                          <a:latin typeface="+mn-lt"/>
                          <a:ea typeface="+mn-ea"/>
                          <a:cs typeface="+mn-cs"/>
                        </a:rPr>
                        <a:t>, etc.</a:t>
                      </a:r>
                      <a:endParaRPr lang="en-US" dirty="0"/>
                    </a:p>
                  </a:txBody>
                  <a:tcPr/>
                </a:tc>
                <a:extLst>
                  <a:ext uri="{0D108BD9-81ED-4DB2-BD59-A6C34878D82A}">
                    <a16:rowId xmlns:a16="http://schemas.microsoft.com/office/drawing/2014/main" val="3386630354"/>
                  </a:ext>
                </a:extLst>
              </a:tr>
              <a:tr h="922120">
                <a:tc>
                  <a:txBody>
                    <a:bodyPr/>
                    <a:lstStyle/>
                    <a:p>
                      <a:pPr algn="just"/>
                      <a:r>
                        <a:rPr lang="en-US" dirty="0"/>
                        <a:t>User Interface or Query</a:t>
                      </a:r>
                    </a:p>
                    <a:p>
                      <a:pPr algn="just"/>
                      <a:r>
                        <a:rPr lang="en-US" dirty="0"/>
                        <a:t>Interface</a:t>
                      </a:r>
                    </a:p>
                  </a:txBody>
                  <a:tcPr/>
                </a:tc>
                <a:tc>
                  <a:txBody>
                    <a:bodyPr/>
                    <a:lstStyle/>
                    <a:p>
                      <a:pPr algn="just"/>
                      <a:r>
                        <a:rPr lang="en-US" sz="1800" b="0" i="0" u="none" strike="noStrike" kern="1200" baseline="0" dirty="0">
                          <a:solidFill>
                            <a:schemeClr val="dk1"/>
                          </a:solidFill>
                          <a:latin typeface="+mn-lt"/>
                          <a:ea typeface="+mn-ea"/>
                          <a:cs typeface="+mn-cs"/>
                        </a:rPr>
                        <a:t>Allows users to interact with the DBMS. Interfaces may</a:t>
                      </a:r>
                    </a:p>
                    <a:p>
                      <a:pPr algn="just"/>
                      <a:r>
                        <a:rPr lang="en-US" sz="1800" b="0" i="0" u="none" strike="noStrike" kern="1200" baseline="0" dirty="0">
                          <a:solidFill>
                            <a:schemeClr val="dk1"/>
                          </a:solidFill>
                          <a:latin typeface="+mn-lt"/>
                          <a:ea typeface="+mn-ea"/>
                          <a:cs typeface="+mn-cs"/>
                        </a:rPr>
                        <a:t>include command-line (e.g., SQL prompt) or graphical tools (e.g., MySQL Workbench).</a:t>
                      </a:r>
                      <a:endParaRPr lang="en-US" dirty="0"/>
                    </a:p>
                  </a:txBody>
                  <a:tcPr/>
                </a:tc>
                <a:extLst>
                  <a:ext uri="{0D108BD9-81ED-4DB2-BD59-A6C34878D82A}">
                    <a16:rowId xmlns:a16="http://schemas.microsoft.com/office/drawing/2014/main" val="2941073696"/>
                  </a:ext>
                </a:extLst>
              </a:tr>
            </a:tbl>
          </a:graphicData>
        </a:graphic>
      </p:graphicFrame>
      <p:sp>
        <p:nvSpPr>
          <p:cNvPr id="6" name="TextBox 5">
            <a:extLst>
              <a:ext uri="{FF2B5EF4-FFF2-40B4-BE49-F238E27FC236}">
                <a16:creationId xmlns:a16="http://schemas.microsoft.com/office/drawing/2014/main" id="{962445D3-D36D-4749-9502-42911C223CC7}"/>
              </a:ext>
            </a:extLst>
          </p:cNvPr>
          <p:cNvSpPr txBox="1"/>
          <p:nvPr/>
        </p:nvSpPr>
        <p:spPr>
          <a:xfrm>
            <a:off x="4201610" y="6488668"/>
            <a:ext cx="2222339" cy="369332"/>
          </a:xfrm>
          <a:prstGeom prst="rect">
            <a:avLst/>
          </a:prstGeom>
          <a:noFill/>
        </p:spPr>
        <p:txBody>
          <a:bodyPr wrap="square" rtlCol="0">
            <a:spAutoFit/>
          </a:bodyPr>
          <a:lstStyle/>
          <a:p>
            <a:r>
              <a:rPr lang="en-US" b="1" dirty="0">
                <a:solidFill>
                  <a:schemeClr val="accent2">
                    <a:lumMod val="60000"/>
                    <a:lumOff val="40000"/>
                  </a:schemeClr>
                </a:solidFill>
              </a:rPr>
              <a:t>Kothiya Bhaumik</a:t>
            </a:r>
          </a:p>
        </p:txBody>
      </p:sp>
    </p:spTree>
    <p:extLst>
      <p:ext uri="{BB962C8B-B14F-4D97-AF65-F5344CB8AC3E}">
        <p14:creationId xmlns:p14="http://schemas.microsoft.com/office/powerpoint/2010/main" val="349659575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151</TotalTime>
  <Words>3976</Words>
  <Application>Microsoft Office PowerPoint</Application>
  <PresentationFormat>Widescreen</PresentationFormat>
  <Paragraphs>379</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Trebuchet MS</vt:lpstr>
      <vt:lpstr>Wingdings 3</vt:lpstr>
      <vt:lpstr>Facet</vt:lpstr>
      <vt:lpstr>Unit-1: Introduction to DBMS </vt:lpstr>
      <vt:lpstr> (1)What is Data? Differentiate between data and information. </vt:lpstr>
      <vt:lpstr>(2) Differentiate between File Management System and Database Management System. </vt:lpstr>
      <vt:lpstr>(3)Define DBMS. Give examples of Database Management Systems. </vt:lpstr>
      <vt:lpstr>(4) Draw and explain Database System environment. </vt:lpstr>
      <vt:lpstr>(5)What is Data Dictionary? Explain types of Data Dictionary. </vt:lpstr>
      <vt:lpstr>PowerPoint Presentation</vt:lpstr>
      <vt:lpstr>PowerPoint Presentation</vt:lpstr>
      <vt:lpstr>(6) How many types of database users are there?  Explain the roles / characteristics of any three types of users. </vt:lpstr>
      <vt:lpstr>PowerPoint Presentation</vt:lpstr>
      <vt:lpstr>PowerPoint Presentation</vt:lpstr>
      <vt:lpstr>(7)Explain different types of database architectures with its advantage and limitation. </vt:lpstr>
      <vt:lpstr>PowerPoint Presentation</vt:lpstr>
      <vt:lpstr>PowerPoint Presentation</vt:lpstr>
      <vt:lpstr>PowerPoint Presentation</vt:lpstr>
      <vt:lpstr>(8) Draw and explain the 3-tier ANSI-SPARC architecture in detail. </vt:lpstr>
      <vt:lpstr>PowerPoint Presentation</vt:lpstr>
      <vt:lpstr>ANSI/SPARC Database Architecture</vt:lpstr>
      <vt:lpstr>(9)Mention the advantages of using Three-Tier Architecture. </vt:lpstr>
      <vt:lpstr>PowerPoint Presentation</vt:lpstr>
      <vt:lpstr>(10) What is data independence? Explain two kinds of data independence. </vt:lpstr>
      <vt:lpstr>PowerPoint Presentation</vt:lpstr>
      <vt:lpstr>PowerPoint Presentation</vt:lpstr>
      <vt:lpstr>(11) What is data abstraction? Explain 3 levels of data abstraction in brief. </vt:lpstr>
      <vt:lpstr>PowerPoint Presentation</vt:lpstr>
      <vt:lpstr>PowerPoint Presentation</vt:lpstr>
      <vt:lpstr>(12) What is data abstraction? Explain 3 levels of data abstraction in brief.  </vt:lpstr>
      <vt:lpstr>PowerPoint Presentation</vt:lpstr>
      <vt:lpstr>PowerPoint Presentation</vt:lpstr>
      <vt:lpstr>(13) Explain DBMS languages with examples. </vt:lpstr>
      <vt:lpstr>PowerPoint Presentation</vt:lpstr>
      <vt:lpstr>PowerPoint Presentation</vt:lpstr>
      <vt:lpstr>PowerPoint Presentation</vt:lpstr>
      <vt:lpstr>(14)What is No-SQL? Give types of No-SQL Databases with examples. </vt:lpstr>
      <vt:lpstr>Types of NoSQL Databases:</vt:lpstr>
      <vt:lpstr>PowerPoint Presentation</vt:lpstr>
      <vt:lpstr>(15)What are the components of DBMS?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Introduction to DBMS </dc:title>
  <dc:creator>Admin</dc:creator>
  <cp:lastModifiedBy>Admin</cp:lastModifiedBy>
  <cp:revision>209</cp:revision>
  <dcterms:created xsi:type="dcterms:W3CDTF">2025-10-08T12:10:11Z</dcterms:created>
  <dcterms:modified xsi:type="dcterms:W3CDTF">2025-10-08T14:42:09Z</dcterms:modified>
</cp:coreProperties>
</file>