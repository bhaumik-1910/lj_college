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440D-D5DF-4C84-8413-1A14565D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7859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Q1) What is an Entity? Give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1187C-AF1F-477C-A687-DDE6C47B2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1907"/>
            <a:ext cx="8596668" cy="4239456"/>
          </a:xfrm>
        </p:spPr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b="1" dirty="0"/>
              <a:t>Entity</a:t>
            </a:r>
            <a:r>
              <a:rPr lang="en-US" dirty="0"/>
              <a:t> is a real-world object or concept that can be distinctly identified and about which data can be stored in a database. Each entity has certain </a:t>
            </a:r>
            <a:r>
              <a:rPr lang="en-US" b="1" dirty="0"/>
              <a:t>attributes</a:t>
            </a:r>
            <a:r>
              <a:rPr lang="en-US" dirty="0"/>
              <a:t> that describe its properties.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Example:</a:t>
            </a:r>
            <a:endParaRPr lang="en-US" dirty="0"/>
          </a:p>
          <a:p>
            <a:pPr algn="just"/>
            <a:r>
              <a:rPr lang="en-US" dirty="0"/>
              <a:t>In a college database, </a:t>
            </a:r>
            <a:r>
              <a:rPr lang="en-US" b="1" dirty="0"/>
              <a:t>Student</a:t>
            </a:r>
            <a:r>
              <a:rPr lang="en-US" dirty="0"/>
              <a:t>, </a:t>
            </a:r>
            <a:r>
              <a:rPr lang="en-US" b="1" dirty="0"/>
              <a:t>Teacher</a:t>
            </a:r>
            <a:r>
              <a:rPr lang="en-US" dirty="0"/>
              <a:t>, and </a:t>
            </a:r>
            <a:r>
              <a:rPr lang="en-US" b="1" dirty="0"/>
              <a:t>Course</a:t>
            </a:r>
            <a:r>
              <a:rPr lang="en-US" dirty="0"/>
              <a:t> are entities.</a:t>
            </a:r>
          </a:p>
          <a:p>
            <a:pPr algn="just"/>
            <a:r>
              <a:rPr lang="en-US" dirty="0"/>
              <a:t>For the </a:t>
            </a:r>
            <a:r>
              <a:rPr lang="en-US" b="1" dirty="0"/>
              <a:t>Student</a:t>
            </a:r>
            <a:r>
              <a:rPr lang="en-US" dirty="0"/>
              <a:t> entity, attributes can be </a:t>
            </a:r>
            <a:r>
              <a:rPr lang="en-US" i="1" dirty="0" err="1"/>
              <a:t>Student_ID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Age</a:t>
            </a:r>
            <a:r>
              <a:rPr lang="en-US" dirty="0"/>
              <a:t>, and </a:t>
            </a:r>
            <a:r>
              <a:rPr lang="en-US" i="1" dirty="0"/>
              <a:t>Course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0086C-5CFC-4BC2-A04E-A17B6E003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86" y="4349061"/>
            <a:ext cx="4237087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0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2E58-D574-4A27-AB22-8C4D611F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08847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Q2) What is a Relationship? Explain types of Relationship.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CA2F-1EA8-4BED-8E97-B0261C86D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1907"/>
            <a:ext cx="8596668" cy="423945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Relationship</a:t>
            </a:r>
            <a:r>
              <a:rPr lang="en-US" dirty="0"/>
              <a:t> defines the association or connection between two or more entities in a database. It shows how data in one entity is related to data in another entity.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r>
              <a:rPr lang="en-US" b="1" dirty="0"/>
              <a:t>Types of Relationships: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One-to-One (1:1):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Each record in one entity is related to only one record in another entity.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Each </a:t>
            </a:r>
            <a:r>
              <a:rPr lang="en-US" i="1" dirty="0"/>
              <a:t>person</a:t>
            </a:r>
            <a:r>
              <a:rPr lang="en-US" dirty="0"/>
              <a:t> has one </a:t>
            </a:r>
            <a:r>
              <a:rPr lang="en-US" i="1" dirty="0"/>
              <a:t>passport.</a:t>
            </a:r>
            <a:endParaRPr lang="en-US" dirty="0"/>
          </a:p>
          <a:p>
            <a:pPr algn="just"/>
            <a:r>
              <a:rPr lang="en-US" b="1" dirty="0"/>
              <a:t>One-to-Many (1:M):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A single record in one entity can be related to many records in another entity.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One </a:t>
            </a:r>
            <a:r>
              <a:rPr lang="en-US" i="1" dirty="0"/>
              <a:t>teacher</a:t>
            </a:r>
            <a:r>
              <a:rPr lang="en-US" dirty="0"/>
              <a:t> can teach many </a:t>
            </a:r>
            <a:r>
              <a:rPr lang="en-US" i="1" dirty="0"/>
              <a:t>students.</a:t>
            </a:r>
            <a:endParaRPr lang="en-US" dirty="0"/>
          </a:p>
          <a:p>
            <a:pPr algn="just"/>
            <a:r>
              <a:rPr lang="en-US" b="1" dirty="0"/>
              <a:t>Many-to-Many (M:N):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Many records in one entity can be related to many records in another entity.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Many </a:t>
            </a:r>
            <a:r>
              <a:rPr lang="en-US" i="1" dirty="0"/>
              <a:t>students</a:t>
            </a:r>
            <a:r>
              <a:rPr lang="en-US" dirty="0"/>
              <a:t> can enroll in many </a:t>
            </a:r>
            <a:r>
              <a:rPr lang="en-US" i="1" dirty="0"/>
              <a:t>courses.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9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080AF-08F3-4538-9BDB-A52F585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Q3) Explain relationship cardinality in detail with suitable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E0857-39AC-47E1-A9F3-33A6CD686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6729"/>
            <a:ext cx="8596668" cy="419463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Relationship Cardinality</a:t>
            </a:r>
            <a:r>
              <a:rPr lang="en-US" dirty="0"/>
              <a:t> defines the number of instances of one entity that can or must be associated with each instance of another entity. It shows the </a:t>
            </a:r>
            <a:r>
              <a:rPr lang="en-US" b="1" dirty="0"/>
              <a:t>quantitative nature</a:t>
            </a:r>
            <a:r>
              <a:rPr lang="en-US" dirty="0"/>
              <a:t> of the relationship between entities.</a:t>
            </a:r>
          </a:p>
          <a:p>
            <a:endParaRPr lang="en-US" dirty="0"/>
          </a:p>
          <a:p>
            <a:r>
              <a:rPr lang="en-US" dirty="0"/>
              <a:t>There are three main types of cardinalities:</a:t>
            </a:r>
          </a:p>
          <a:p>
            <a:r>
              <a:rPr lang="en-US" b="1" dirty="0"/>
              <a:t>One-to-One (1:1):</a:t>
            </a:r>
            <a:br>
              <a:rPr lang="en-US" dirty="0"/>
            </a:br>
            <a:r>
              <a:rPr lang="en-US" dirty="0"/>
              <a:t>Each entity in one set is related to only one entity in another set.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One </a:t>
            </a:r>
            <a:r>
              <a:rPr lang="en-US" b="1" dirty="0"/>
              <a:t>student</a:t>
            </a:r>
            <a:r>
              <a:rPr lang="en-US" dirty="0"/>
              <a:t> has one </a:t>
            </a:r>
            <a:r>
              <a:rPr lang="en-US" b="1" dirty="0"/>
              <a:t>ID card</a:t>
            </a:r>
            <a:r>
              <a:rPr lang="en-US" dirty="0"/>
              <a:t>.</a:t>
            </a:r>
          </a:p>
          <a:p>
            <a:r>
              <a:rPr lang="en-US" b="1" dirty="0"/>
              <a:t>One-to-Many (1:M):</a:t>
            </a:r>
            <a:br>
              <a:rPr lang="en-US" dirty="0"/>
            </a:br>
            <a:r>
              <a:rPr lang="en-US" dirty="0"/>
              <a:t>One entity in a set can be related to many entities in another set, but those many entities are related to only one entity in the first set.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One </a:t>
            </a:r>
            <a:r>
              <a:rPr lang="en-US" b="1" dirty="0"/>
              <a:t>teacher</a:t>
            </a:r>
            <a:r>
              <a:rPr lang="en-US" dirty="0"/>
              <a:t> teaches many </a:t>
            </a:r>
            <a:r>
              <a:rPr lang="en-US" b="1" dirty="0"/>
              <a:t>students</a:t>
            </a:r>
            <a:r>
              <a:rPr lang="en-US" dirty="0"/>
              <a:t>.</a:t>
            </a:r>
          </a:p>
          <a:p>
            <a:r>
              <a:rPr lang="en-US" b="1" dirty="0"/>
              <a:t>Many-to-Many (M:N):</a:t>
            </a:r>
            <a:br>
              <a:rPr lang="en-US" dirty="0"/>
            </a:br>
            <a:r>
              <a:rPr lang="en-US" dirty="0"/>
              <a:t>Many entities in one set can be related to many entities in another set.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Many </a:t>
            </a:r>
            <a:r>
              <a:rPr lang="en-US" b="1" dirty="0"/>
              <a:t>students</a:t>
            </a:r>
            <a:r>
              <a:rPr lang="en-US" dirty="0"/>
              <a:t> enroll in many </a:t>
            </a:r>
            <a:r>
              <a:rPr lang="en-US" b="1" dirty="0"/>
              <a:t>courses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065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14C1-C9DB-4338-8E64-6B3A4B2E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Q4) Define Weak Entity. Explain with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E2A1-4AF1-4F2B-9A68-4A89CBF42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Weak Entity</a:t>
            </a:r>
            <a:r>
              <a:rPr lang="en-US" dirty="0"/>
              <a:t> is an entity that </a:t>
            </a:r>
            <a:r>
              <a:rPr lang="en-US" b="1" dirty="0"/>
              <a:t>cannot be uniquely identified</a:t>
            </a:r>
            <a:r>
              <a:rPr lang="en-US" dirty="0"/>
              <a:t> by its own attributes alone. It depends on a </a:t>
            </a:r>
            <a:r>
              <a:rPr lang="en-US" b="1" dirty="0"/>
              <a:t>strong entity</a:t>
            </a:r>
            <a:r>
              <a:rPr lang="en-US" dirty="0"/>
              <a:t> (or owner entity) for its identification and always has a </a:t>
            </a:r>
            <a:r>
              <a:rPr lang="en-US" b="1" dirty="0"/>
              <a:t>partial key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To identify a weak entity uniquely, it must be combined with the primary key of its strong entity.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a college database, consider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 err="1"/>
              <a:t>Fee_Payment</a:t>
            </a:r>
            <a:r>
              <a:rPr lang="en-US" dirty="0"/>
              <a:t> entities.</a:t>
            </a:r>
          </a:p>
          <a:p>
            <a:r>
              <a:rPr lang="en-US" b="1" dirty="0"/>
              <a:t>Student</a:t>
            </a:r>
            <a:r>
              <a:rPr lang="en-US" dirty="0"/>
              <a:t> is a strong entity (identified by </a:t>
            </a:r>
            <a:r>
              <a:rPr lang="en-US" i="1" dirty="0" err="1"/>
              <a:t>Student_ID</a:t>
            </a:r>
            <a:r>
              <a:rPr lang="en-US" dirty="0"/>
              <a:t>).</a:t>
            </a:r>
          </a:p>
          <a:p>
            <a:pPr algn="just"/>
            <a:r>
              <a:rPr lang="en-US" b="1" dirty="0" err="1"/>
              <a:t>Fee_Payment</a:t>
            </a:r>
            <a:r>
              <a:rPr lang="en-US" dirty="0"/>
              <a:t> is a weak entity because it depends on </a:t>
            </a:r>
            <a:r>
              <a:rPr lang="en-US" i="1" dirty="0" err="1"/>
              <a:t>Student_ID</a:t>
            </a:r>
            <a:r>
              <a:rPr lang="en-US" dirty="0"/>
              <a:t> to be identified uniquely (since multiple payments may exist for one student).</a:t>
            </a:r>
          </a:p>
          <a:p>
            <a:r>
              <a:rPr lang="en-US" b="1" dirty="0"/>
              <a:t>In ER Diagram:</a:t>
            </a:r>
            <a:br>
              <a:rPr lang="en-US" dirty="0"/>
            </a:br>
            <a:r>
              <a:rPr lang="en-US" dirty="0"/>
              <a:t>A weak entity is represented by a </a:t>
            </a:r>
            <a:r>
              <a:rPr lang="en-US" b="1" dirty="0"/>
              <a:t>double rectangle</a:t>
            </a:r>
            <a:r>
              <a:rPr lang="en-US" dirty="0"/>
              <a:t>, and its relationship with the strong entity is shown by a </a:t>
            </a:r>
            <a:r>
              <a:rPr lang="en-US" b="1" dirty="0"/>
              <a:t>double diamond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79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AE8D-9935-4035-9928-F199934F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Q5) Explain relationship-type attribute with suitable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24B8-07DB-4E63-96A7-AE62F94AD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Relationship-type attribute</a:t>
            </a:r>
            <a:r>
              <a:rPr lang="en-US" dirty="0"/>
              <a:t> is an attribute that describes some property or characteristic of a </a:t>
            </a:r>
            <a:r>
              <a:rPr lang="en-US" b="1" dirty="0"/>
              <a:t>relationship</a:t>
            </a:r>
            <a:r>
              <a:rPr lang="en-US" dirty="0"/>
              <a:t> between two or more entities, rather than of the entities themselves.</a:t>
            </a:r>
          </a:p>
          <a:p>
            <a:pPr algn="just"/>
            <a:r>
              <a:rPr lang="en-US" dirty="0"/>
              <a:t>These attributes provide additional information about how the entities are related.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Consider the relationship </a:t>
            </a:r>
            <a:r>
              <a:rPr lang="en-US" b="1" dirty="0"/>
              <a:t>“</a:t>
            </a:r>
            <a:r>
              <a:rPr lang="en-US" b="1" dirty="0" err="1"/>
              <a:t>Works_On</a:t>
            </a:r>
            <a:r>
              <a:rPr lang="en-US" b="1" dirty="0"/>
              <a:t>”</a:t>
            </a:r>
            <a:r>
              <a:rPr lang="en-US" dirty="0"/>
              <a:t> between the entities </a:t>
            </a:r>
            <a:r>
              <a:rPr lang="en-US" b="1" dirty="0"/>
              <a:t>Employee</a:t>
            </a:r>
            <a:r>
              <a:rPr lang="en-US" dirty="0"/>
              <a:t> and </a:t>
            </a:r>
            <a:r>
              <a:rPr lang="en-US" b="1" dirty="0"/>
              <a:t>Project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attribute </a:t>
            </a:r>
            <a:r>
              <a:rPr lang="en-US" b="1" dirty="0"/>
              <a:t>“Hours”</a:t>
            </a:r>
            <a:r>
              <a:rPr lang="en-US" dirty="0"/>
              <a:t> (number of hours an employee works on a project) belongs to the relationship </a:t>
            </a:r>
            <a:r>
              <a:rPr lang="en-US" b="1" dirty="0" err="1"/>
              <a:t>Works_On</a:t>
            </a:r>
            <a:r>
              <a:rPr lang="en-US" dirty="0"/>
              <a:t>, not to Employee or Project individually.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b="1" dirty="0"/>
              <a:t>Employee</a:t>
            </a:r>
            <a:r>
              <a:rPr lang="en-US" dirty="0"/>
              <a:t> → </a:t>
            </a:r>
            <a:r>
              <a:rPr lang="en-US" dirty="0" err="1"/>
              <a:t>Employee_ID</a:t>
            </a:r>
            <a:r>
              <a:rPr lang="en-US" dirty="0"/>
              <a:t>, Name</a:t>
            </a:r>
          </a:p>
          <a:p>
            <a:r>
              <a:rPr lang="en-US" b="1" dirty="0"/>
              <a:t>Project</a:t>
            </a:r>
            <a:r>
              <a:rPr lang="en-US" dirty="0"/>
              <a:t> → </a:t>
            </a:r>
            <a:r>
              <a:rPr lang="en-US" dirty="0" err="1"/>
              <a:t>Project_ID</a:t>
            </a:r>
            <a:r>
              <a:rPr lang="en-US" dirty="0"/>
              <a:t>, Title</a:t>
            </a:r>
          </a:p>
          <a:p>
            <a:r>
              <a:rPr lang="en-US" b="1" dirty="0" err="1"/>
              <a:t>Works_On</a:t>
            </a:r>
            <a:r>
              <a:rPr lang="en-US" dirty="0"/>
              <a:t> → </a:t>
            </a:r>
            <a:r>
              <a:rPr lang="en-US" i="1" dirty="0"/>
              <a:t>Hours</a:t>
            </a:r>
            <a:r>
              <a:rPr lang="en-US" dirty="0"/>
              <a:t> (relationship-type attribute)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C5C0-00FF-4C75-8F1B-8DC070BA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Q6) What is Participation Constraint? Explain with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8A9E0-120E-4F05-80D4-1AD56C656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Participation Constraint</a:t>
            </a:r>
            <a:r>
              <a:rPr lang="en-US" dirty="0"/>
              <a:t> specifies whether all or only some entities participate in a relationship. It defines the </a:t>
            </a:r>
            <a:r>
              <a:rPr lang="en-US" b="1" dirty="0"/>
              <a:t>extent of participation</a:t>
            </a:r>
            <a:r>
              <a:rPr lang="en-US" dirty="0"/>
              <a:t> of an entity in a relationship set.</a:t>
            </a:r>
          </a:p>
          <a:p>
            <a:r>
              <a:rPr lang="en-US" b="1" dirty="0"/>
              <a:t>In ER Diagram:</a:t>
            </a:r>
            <a:endParaRPr lang="en-US" dirty="0"/>
          </a:p>
          <a:p>
            <a:r>
              <a:rPr lang="en-US" b="1" dirty="0"/>
              <a:t>Total Participation</a:t>
            </a:r>
            <a:r>
              <a:rPr lang="en-US" dirty="0"/>
              <a:t> → represented by a </a:t>
            </a:r>
            <a:r>
              <a:rPr lang="en-US" b="1" dirty="0"/>
              <a:t>double line</a:t>
            </a:r>
            <a:r>
              <a:rPr lang="en-US" dirty="0"/>
              <a:t>.</a:t>
            </a:r>
          </a:p>
          <a:p>
            <a:r>
              <a:rPr lang="en-US" b="1" dirty="0"/>
              <a:t>Partial Participation</a:t>
            </a:r>
            <a:r>
              <a:rPr lang="en-US" dirty="0"/>
              <a:t> → represented by a </a:t>
            </a:r>
            <a:r>
              <a:rPr lang="en-US" b="1" dirty="0"/>
              <a:t>single line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82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19C93-8C25-4148-B299-79F0F6AE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76519"/>
            <a:ext cx="8596668" cy="56648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Total Participation:</a:t>
            </a:r>
          </a:p>
          <a:p>
            <a:r>
              <a:rPr lang="en-US" dirty="0"/>
              <a:t>Every entity in the entity set must participate in at least one relationship.</a:t>
            </a:r>
          </a:p>
          <a:p>
            <a:r>
              <a:rPr lang="en-US" dirty="0"/>
              <a:t>It indicates a </a:t>
            </a:r>
            <a:r>
              <a:rPr lang="en-US" b="1" dirty="0"/>
              <a:t>mandatory</a:t>
            </a:r>
            <a:r>
              <a:rPr lang="en-US" dirty="0"/>
              <a:t> participation.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Consider the relationship </a:t>
            </a:r>
            <a:r>
              <a:rPr lang="en-US" b="1" dirty="0"/>
              <a:t>“Enrollment”</a:t>
            </a:r>
            <a:r>
              <a:rPr lang="en-US" dirty="0"/>
              <a:t> between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Course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Every </a:t>
            </a:r>
            <a:r>
              <a:rPr lang="en-US" i="1" dirty="0"/>
              <a:t>student</a:t>
            </a:r>
            <a:r>
              <a:rPr lang="en-US" dirty="0"/>
              <a:t> must be enrolled in at least one </a:t>
            </a:r>
            <a:r>
              <a:rPr lang="en-US" i="1" dirty="0"/>
              <a:t>course</a:t>
            </a:r>
            <a:r>
              <a:rPr lang="en-US" dirty="0"/>
              <a:t> — hence, the participation of </a:t>
            </a:r>
            <a:r>
              <a:rPr lang="en-US" i="1" dirty="0"/>
              <a:t>Student</a:t>
            </a:r>
            <a:r>
              <a:rPr lang="en-US" dirty="0"/>
              <a:t> in </a:t>
            </a:r>
            <a:r>
              <a:rPr lang="en-US" i="1" dirty="0"/>
              <a:t>Enrollment</a:t>
            </a:r>
            <a:r>
              <a:rPr lang="en-US" dirty="0"/>
              <a:t> is </a:t>
            </a:r>
            <a:r>
              <a:rPr lang="en-US" b="1" dirty="0"/>
              <a:t>total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an ER diagram, this is shown by a </a:t>
            </a:r>
            <a:r>
              <a:rPr lang="en-US" b="1" dirty="0"/>
              <a:t>double line</a:t>
            </a:r>
            <a:r>
              <a:rPr lang="en-US" dirty="0"/>
              <a:t> connecting </a:t>
            </a:r>
            <a:r>
              <a:rPr lang="en-US" i="1" dirty="0"/>
              <a:t>Student</a:t>
            </a:r>
            <a:r>
              <a:rPr lang="en-US" dirty="0"/>
              <a:t> to </a:t>
            </a:r>
            <a:r>
              <a:rPr lang="en-US" i="1" dirty="0"/>
              <a:t>Enrollment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Partial Participation:</a:t>
            </a:r>
            <a:endParaRPr lang="en-US" dirty="0"/>
          </a:p>
          <a:p>
            <a:r>
              <a:rPr lang="en-US" dirty="0"/>
              <a:t>Only some entities in the entity set participate in the relationship.</a:t>
            </a:r>
          </a:p>
          <a:p>
            <a:r>
              <a:rPr lang="en-US" dirty="0"/>
              <a:t>It indicates an </a:t>
            </a:r>
            <a:r>
              <a:rPr lang="en-US" b="1" dirty="0"/>
              <a:t>optional</a:t>
            </a:r>
            <a:r>
              <a:rPr lang="en-US" dirty="0"/>
              <a:t> participation.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Consider the relationship </a:t>
            </a:r>
            <a:r>
              <a:rPr lang="en-US" b="1" dirty="0"/>
              <a:t>“Guides”</a:t>
            </a:r>
            <a:r>
              <a:rPr lang="en-US" dirty="0"/>
              <a:t> between </a:t>
            </a:r>
            <a:r>
              <a:rPr lang="en-US" b="1" dirty="0"/>
              <a:t>Teacher</a:t>
            </a:r>
            <a:r>
              <a:rPr lang="en-US" dirty="0"/>
              <a:t> and </a:t>
            </a:r>
            <a:r>
              <a:rPr lang="en-US" b="1" dirty="0"/>
              <a:t>Project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Some </a:t>
            </a:r>
            <a:r>
              <a:rPr lang="en-US" i="1" dirty="0"/>
              <a:t>teachers</a:t>
            </a:r>
            <a:r>
              <a:rPr lang="en-US" dirty="0"/>
              <a:t> guide </a:t>
            </a:r>
            <a:r>
              <a:rPr lang="en-US" i="1" dirty="0"/>
              <a:t>projects</a:t>
            </a:r>
            <a:r>
              <a:rPr lang="en-US" dirty="0"/>
              <a:t>, but not all teachers do — therefore, the participation of </a:t>
            </a:r>
            <a:r>
              <a:rPr lang="en-US" i="1" dirty="0"/>
              <a:t>Teacher</a:t>
            </a:r>
            <a:r>
              <a:rPr lang="en-US" dirty="0"/>
              <a:t> in </a:t>
            </a:r>
            <a:r>
              <a:rPr lang="en-US" i="1" dirty="0"/>
              <a:t>Guides</a:t>
            </a:r>
            <a:r>
              <a:rPr lang="en-US" dirty="0"/>
              <a:t> is </a:t>
            </a:r>
            <a:r>
              <a:rPr lang="en-US" b="1" dirty="0"/>
              <a:t>partial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an ER diagram, this is shown by a </a:t>
            </a:r>
            <a:r>
              <a:rPr lang="en-US" b="1" dirty="0"/>
              <a:t>single line</a:t>
            </a:r>
            <a:r>
              <a:rPr lang="en-US" dirty="0"/>
              <a:t> connecting </a:t>
            </a:r>
            <a:r>
              <a:rPr lang="en-US" i="1" dirty="0"/>
              <a:t>Teacher</a:t>
            </a:r>
            <a:r>
              <a:rPr lang="en-US" dirty="0"/>
              <a:t> to </a:t>
            </a:r>
            <a:r>
              <a:rPr lang="en-US" i="1" dirty="0"/>
              <a:t>Guides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5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F67D-1B2B-4CA1-AE3E-7FCDFDFA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7"/>
            <a:ext cx="8596668" cy="883669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600" dirty="0"/>
              <a:t>Q7) What are the types of attributes? Explain each with example.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353AE-D88D-4940-8141-CAD364B7D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37129"/>
            <a:ext cx="8596668" cy="48042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Attribute</a:t>
            </a:r>
            <a:r>
              <a:rPr lang="en-US" dirty="0"/>
              <a:t> is a property or characteristic of an entity or relationship that describes it in detail. Each attribute holds a specific piece of information.</a:t>
            </a:r>
          </a:p>
          <a:p>
            <a:r>
              <a:rPr lang="en-US" dirty="0"/>
              <a:t>There are several types of attributes in a database:</a:t>
            </a:r>
          </a:p>
          <a:p>
            <a:r>
              <a:rPr lang="en-US" b="1" dirty="0"/>
              <a:t>Simple Attribute:</a:t>
            </a:r>
            <a:br>
              <a:rPr lang="en-US" dirty="0"/>
            </a:br>
            <a:r>
              <a:rPr lang="en-US" dirty="0"/>
              <a:t>Cannot be divided further into smaller parts.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i="1" dirty="0" err="1"/>
              <a:t>Student_Name</a:t>
            </a:r>
            <a:r>
              <a:rPr lang="en-US" dirty="0"/>
              <a:t>, </a:t>
            </a:r>
            <a:r>
              <a:rPr lang="en-US" i="1" dirty="0"/>
              <a:t>Age</a:t>
            </a:r>
            <a:r>
              <a:rPr lang="en-US" dirty="0"/>
              <a:t>.</a:t>
            </a:r>
          </a:p>
          <a:p>
            <a:r>
              <a:rPr lang="en-US" b="1" dirty="0"/>
              <a:t>Composite Attribute:</a:t>
            </a:r>
            <a:br>
              <a:rPr lang="en-US" dirty="0"/>
            </a:br>
            <a:r>
              <a:rPr lang="en-US" dirty="0"/>
              <a:t>Can be divided into smaller sub-parts that have their own meaning.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i="1" dirty="0" err="1"/>
              <a:t>Full_Name</a:t>
            </a:r>
            <a:r>
              <a:rPr lang="en-US" dirty="0"/>
              <a:t> → (</a:t>
            </a:r>
            <a:r>
              <a:rPr lang="en-US" i="1" dirty="0" err="1"/>
              <a:t>First_Name</a:t>
            </a:r>
            <a:r>
              <a:rPr lang="en-US" dirty="0"/>
              <a:t>, </a:t>
            </a:r>
            <a:r>
              <a:rPr lang="en-US" i="1" dirty="0" err="1"/>
              <a:t>Last_Name</a:t>
            </a:r>
            <a:r>
              <a:rPr lang="en-US" dirty="0"/>
              <a:t>).</a:t>
            </a:r>
          </a:p>
          <a:p>
            <a:r>
              <a:rPr lang="en-US" b="1" dirty="0"/>
              <a:t>Derived Attribute:</a:t>
            </a:r>
            <a:br>
              <a:rPr lang="en-US" dirty="0"/>
            </a:br>
            <a:r>
              <a:rPr lang="en-US" dirty="0"/>
              <a:t>Its value is derived from other attributes.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i="1" dirty="0"/>
              <a:t>Age</a:t>
            </a:r>
            <a:r>
              <a:rPr lang="en-US" dirty="0"/>
              <a:t> can be derived from </a:t>
            </a:r>
            <a:r>
              <a:rPr lang="en-US" i="1" dirty="0" err="1"/>
              <a:t>Date_of_Birth</a:t>
            </a:r>
            <a:r>
              <a:rPr lang="en-US" dirty="0"/>
              <a:t>.</a:t>
            </a:r>
          </a:p>
          <a:p>
            <a:r>
              <a:rPr lang="en-US" b="1" dirty="0"/>
              <a:t>Multi-valued Attribute:</a:t>
            </a:r>
            <a:br>
              <a:rPr lang="en-US" dirty="0"/>
            </a:br>
            <a:r>
              <a:rPr lang="en-US" dirty="0"/>
              <a:t>Can have multiple values for a single entity.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i="1" dirty="0" err="1"/>
              <a:t>Phone_Number</a:t>
            </a:r>
            <a:r>
              <a:rPr lang="en-US" dirty="0"/>
              <a:t> (a person can have more than one phone number).</a:t>
            </a:r>
          </a:p>
          <a:p>
            <a:r>
              <a:rPr lang="en-US" b="1" dirty="0"/>
              <a:t>Key Attribute:</a:t>
            </a:r>
            <a:br>
              <a:rPr lang="en-US" dirty="0"/>
            </a:br>
            <a:r>
              <a:rPr lang="en-US" dirty="0"/>
              <a:t>Uniquely identifies an entity in an entity set.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i="1" dirty="0" err="1"/>
              <a:t>Student_ID</a:t>
            </a:r>
            <a:r>
              <a:rPr lang="en-US" dirty="0"/>
              <a:t>, </a:t>
            </a:r>
            <a:r>
              <a:rPr lang="en-US" i="1" dirty="0" err="1"/>
              <a:t>Employee_ID</a:t>
            </a:r>
            <a:r>
              <a:rPr lang="en-US" dirty="0"/>
              <a:t>.</a:t>
            </a:r>
          </a:p>
          <a:p>
            <a:r>
              <a:rPr lang="en-US" b="1" dirty="0"/>
              <a:t>Single-valued attribute:</a:t>
            </a:r>
            <a:br>
              <a:rPr lang="en-US" dirty="0"/>
            </a:br>
            <a:r>
              <a:rPr lang="en-US" dirty="0"/>
              <a:t>As the name suggests, a </a:t>
            </a:r>
            <a:r>
              <a:rPr lang="en-US" b="1" dirty="0"/>
              <a:t>single-valued attribute</a:t>
            </a:r>
            <a:r>
              <a:rPr lang="en-US" dirty="0"/>
              <a:t> can hold </a:t>
            </a:r>
            <a:r>
              <a:rPr lang="en-US" b="1" dirty="0"/>
              <a:t>only one value</a:t>
            </a:r>
            <a:r>
              <a:rPr lang="en-US" dirty="0"/>
              <a:t> for a particular entity at a time.</a:t>
            </a:r>
            <a:br>
              <a:rPr lang="en-US" dirty="0"/>
            </a:br>
            <a:r>
              <a:rPr lang="en-US" i="1" dirty="0"/>
              <a:t>Example:</a:t>
            </a:r>
            <a:r>
              <a:rPr lang="en-US" dirty="0"/>
              <a:t> A </a:t>
            </a:r>
            <a:r>
              <a:rPr lang="en-US" b="1" dirty="0"/>
              <a:t>Student</a:t>
            </a:r>
            <a:r>
              <a:rPr lang="en-US" dirty="0"/>
              <a:t> entity has only one </a:t>
            </a:r>
            <a:r>
              <a:rPr lang="en-US" i="1" dirty="0" err="1"/>
              <a:t>Roll_Number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61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ED03-ACF4-4CF9-AC66-7B3BE9EDB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4424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Q8) Explain Primary Key and Foreign Key.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59D2-D900-48F4-B667-CD5A0CFE1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6377"/>
            <a:ext cx="8596668" cy="4104986"/>
          </a:xfrm>
        </p:spPr>
        <p:txBody>
          <a:bodyPr/>
          <a:lstStyle/>
          <a:p>
            <a:r>
              <a:rPr lang="en-US" b="1" dirty="0"/>
              <a:t>Primary Key: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is a field (or combination of fields) in a table that </a:t>
            </a:r>
            <a:r>
              <a:rPr lang="en-US" b="1" dirty="0"/>
              <a:t>uniquely identifies</a:t>
            </a:r>
            <a:r>
              <a:rPr lang="en-US" dirty="0"/>
              <a:t> each record in that table.</a:t>
            </a:r>
          </a:p>
          <a:p>
            <a:r>
              <a:rPr lang="en-US" dirty="0"/>
              <a:t>It </a:t>
            </a:r>
            <a:r>
              <a:rPr lang="en-US" b="1" dirty="0"/>
              <a:t>cannot contain NULL values</a:t>
            </a:r>
            <a:r>
              <a:rPr lang="en-US" dirty="0"/>
              <a:t> and each value must be </a:t>
            </a:r>
            <a:r>
              <a:rPr lang="en-US" b="1" dirty="0"/>
              <a:t>unique</a:t>
            </a:r>
            <a:r>
              <a:rPr lang="en-US" dirty="0"/>
              <a:t>.</a:t>
            </a:r>
          </a:p>
          <a:p>
            <a:r>
              <a:rPr lang="en-US" dirty="0"/>
              <a:t>Each table can have </a:t>
            </a:r>
            <a:r>
              <a:rPr lang="en-US" b="1" dirty="0"/>
              <a:t>only one primary key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 the </a:t>
            </a:r>
            <a:r>
              <a:rPr lang="en-US" b="1" dirty="0"/>
              <a:t>Student</a:t>
            </a:r>
            <a:r>
              <a:rPr lang="en-US" dirty="0"/>
              <a:t> table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</a:t>
            </a:r>
            <a:r>
              <a:rPr lang="en-US" i="1" dirty="0" err="1"/>
              <a:t>Student_ID</a:t>
            </a:r>
            <a:r>
              <a:rPr lang="en-US" dirty="0"/>
              <a:t> is the </a:t>
            </a:r>
            <a:r>
              <a:rPr lang="en-US" b="1" dirty="0"/>
              <a:t>Primary Key</a:t>
            </a:r>
            <a:r>
              <a:rPr lang="en-US" dirty="0"/>
              <a:t> because it uniquely identifies each student.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0BF419-9884-446D-A45A-A10662A2F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97157"/>
              </p:ext>
            </p:extLst>
          </p:nvPr>
        </p:nvGraphicFramePr>
        <p:xfrm>
          <a:off x="676977" y="4572000"/>
          <a:ext cx="8596669" cy="731520"/>
        </p:xfrm>
        <a:graphic>
          <a:graphicData uri="http://schemas.openxmlformats.org/drawingml/2006/table">
            <a:tbl>
              <a:tblPr/>
              <a:tblGrid>
                <a:gridCol w="2246765">
                  <a:extLst>
                    <a:ext uri="{9D8B030D-6E8A-4147-A177-3AD203B41FA5}">
                      <a16:colId xmlns:a16="http://schemas.microsoft.com/office/drawing/2014/main" val="233507377"/>
                    </a:ext>
                  </a:extLst>
                </a:gridCol>
                <a:gridCol w="3174952">
                  <a:extLst>
                    <a:ext uri="{9D8B030D-6E8A-4147-A177-3AD203B41FA5}">
                      <a16:colId xmlns:a16="http://schemas.microsoft.com/office/drawing/2014/main" val="710071728"/>
                    </a:ext>
                  </a:extLst>
                </a:gridCol>
                <a:gridCol w="3174952">
                  <a:extLst>
                    <a:ext uri="{9D8B030D-6E8A-4147-A177-3AD203B41FA5}">
                      <a16:colId xmlns:a16="http://schemas.microsoft.com/office/drawing/2014/main" val="2676312588"/>
                    </a:ext>
                  </a:extLst>
                </a:gridCol>
              </a:tblGrid>
              <a:tr h="177801">
                <a:tc>
                  <a:txBody>
                    <a:bodyPr/>
                    <a:lstStyle/>
                    <a:p>
                      <a:r>
                        <a:rPr lang="en-US"/>
                        <a:t>Student_ID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06727"/>
                  </a:ext>
                </a:extLst>
              </a:tr>
              <a:tr h="1778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449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5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A8D4-0037-40AE-AD8F-D3BEAAF9E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7177"/>
            <a:ext cx="8596668" cy="5324186"/>
          </a:xfrm>
        </p:spPr>
        <p:txBody>
          <a:bodyPr/>
          <a:lstStyle/>
          <a:p>
            <a:r>
              <a:rPr lang="en-US" b="1" dirty="0"/>
              <a:t>Foreign Key: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Foreign Key</a:t>
            </a:r>
            <a:r>
              <a:rPr lang="en-US" dirty="0"/>
              <a:t> is a field in one table that refers to the </a:t>
            </a:r>
            <a:r>
              <a:rPr lang="en-US" b="1" dirty="0"/>
              <a:t>Primary Key</a:t>
            </a:r>
            <a:r>
              <a:rPr lang="en-US" dirty="0"/>
              <a:t> in another table.</a:t>
            </a:r>
          </a:p>
          <a:p>
            <a:r>
              <a:rPr lang="en-US" dirty="0"/>
              <a:t>It is used to </a:t>
            </a:r>
            <a:r>
              <a:rPr lang="en-US" b="1" dirty="0"/>
              <a:t>maintain relationships</a:t>
            </a:r>
            <a:r>
              <a:rPr lang="en-US" dirty="0"/>
              <a:t> between two tables and ensure </a:t>
            </a:r>
            <a:r>
              <a:rPr lang="en-US" b="1" dirty="0"/>
              <a:t>referential integrity</a:t>
            </a:r>
            <a:r>
              <a:rPr lang="en-US" dirty="0"/>
              <a:t>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b="1" dirty="0"/>
              <a:t>Student</a:t>
            </a:r>
            <a:r>
              <a:rPr lang="en-US" dirty="0"/>
              <a:t> table → (</a:t>
            </a:r>
            <a:r>
              <a:rPr lang="en-US" i="1" dirty="0" err="1"/>
              <a:t>Student_ID</a:t>
            </a:r>
            <a:r>
              <a:rPr lang="en-US" dirty="0"/>
              <a:t>, Name)</a:t>
            </a:r>
          </a:p>
          <a:p>
            <a:r>
              <a:rPr lang="en-US" b="1" dirty="0"/>
              <a:t>Marks</a:t>
            </a:r>
            <a:r>
              <a:rPr lang="en-US" dirty="0"/>
              <a:t> table → (</a:t>
            </a:r>
            <a:r>
              <a:rPr lang="en-US" i="1" dirty="0" err="1"/>
              <a:t>Mark_ID</a:t>
            </a:r>
            <a:r>
              <a:rPr lang="en-US" dirty="0"/>
              <a:t>, 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Total_Marks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Here, </a:t>
            </a:r>
            <a:r>
              <a:rPr lang="en-US" i="1" dirty="0" err="1"/>
              <a:t>Student_ID</a:t>
            </a:r>
            <a:r>
              <a:rPr lang="en-US" dirty="0"/>
              <a:t> in the </a:t>
            </a:r>
            <a:r>
              <a:rPr lang="en-US" b="1" dirty="0"/>
              <a:t>Marks</a:t>
            </a:r>
            <a:r>
              <a:rPr lang="en-US" dirty="0"/>
              <a:t> table is a </a:t>
            </a:r>
            <a:r>
              <a:rPr lang="en-US" b="1" dirty="0"/>
              <a:t>Foreign Key</a:t>
            </a:r>
            <a:r>
              <a:rPr lang="en-US" dirty="0"/>
              <a:t> referencing </a:t>
            </a:r>
            <a:r>
              <a:rPr lang="en-US" i="1" dirty="0" err="1"/>
              <a:t>Student_ID</a:t>
            </a:r>
            <a:r>
              <a:rPr lang="en-US" dirty="0"/>
              <a:t> in the </a:t>
            </a:r>
            <a:r>
              <a:rPr lang="en-US" b="1" dirty="0"/>
              <a:t>Student</a:t>
            </a:r>
            <a:r>
              <a:rPr lang="en-US" dirty="0"/>
              <a:t> table.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Primary Key:</a:t>
            </a:r>
            <a:r>
              <a:rPr lang="en-US" dirty="0"/>
              <a:t> uniquely identifies records.</a:t>
            </a:r>
          </a:p>
          <a:p>
            <a:r>
              <a:rPr lang="en-US" b="1" dirty="0"/>
              <a:t>Foreign Key:</a:t>
            </a:r>
            <a:r>
              <a:rPr lang="en-US" dirty="0"/>
              <a:t> establishes a link between tables.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40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0A67-37A3-46FD-82C9-18D0B25E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dirty="0"/>
              <a:t>Q9) What are the rules to convert n:m (many-to-many) relationship into a relational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FC17E-86D2-49C5-9061-1A6090E22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a </a:t>
            </a:r>
            <a:r>
              <a:rPr lang="en-US" b="1" dirty="0"/>
              <a:t>many-to-many (M:N)</a:t>
            </a:r>
            <a:r>
              <a:rPr lang="en-US" dirty="0"/>
              <a:t> relationship, multiple records in one entity can be associated with multiple records in another entity. Since relational databases do not directly support M:N relationships, we convert them using a </a:t>
            </a:r>
            <a:r>
              <a:rPr lang="en-US" b="1" dirty="0"/>
              <a:t>new relation (table)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Rules for Conversion:</a:t>
            </a:r>
            <a:endParaRPr lang="en-US" dirty="0"/>
          </a:p>
          <a:p>
            <a:r>
              <a:rPr lang="en-US" b="1" dirty="0"/>
              <a:t>Create a new relation</a:t>
            </a:r>
            <a:r>
              <a:rPr lang="en-US" dirty="0"/>
              <a:t> (table) to represent the M:N relationship.</a:t>
            </a:r>
          </a:p>
          <a:p>
            <a:r>
              <a:rPr lang="en-US" b="1" dirty="0"/>
              <a:t>Include the primary keys</a:t>
            </a:r>
            <a:r>
              <a:rPr lang="en-US" dirty="0"/>
              <a:t> of both participating entities as </a:t>
            </a:r>
            <a:r>
              <a:rPr lang="en-US" b="1" dirty="0"/>
              <a:t>foreign keys</a:t>
            </a:r>
            <a:r>
              <a:rPr lang="en-US" dirty="0"/>
              <a:t> in this new relation.</a:t>
            </a:r>
          </a:p>
          <a:p>
            <a:r>
              <a:rPr lang="en-US" dirty="0"/>
              <a:t>The </a:t>
            </a:r>
            <a:r>
              <a:rPr lang="en-US" b="1" dirty="0"/>
              <a:t>combination</a:t>
            </a:r>
            <a:r>
              <a:rPr lang="en-US" dirty="0"/>
              <a:t> of these foreign keys becomes the </a:t>
            </a:r>
            <a:r>
              <a:rPr lang="en-US" b="1" dirty="0"/>
              <a:t>primary key</a:t>
            </a:r>
            <a:r>
              <a:rPr lang="en-US" dirty="0"/>
              <a:t> (or a composite key) of the new table.</a:t>
            </a:r>
          </a:p>
          <a:p>
            <a:r>
              <a:rPr lang="en-US" dirty="0"/>
              <a:t>Include any </a:t>
            </a:r>
            <a:r>
              <a:rPr lang="en-US" b="1" dirty="0"/>
              <a:t>attributes of the relationship</a:t>
            </a:r>
            <a:r>
              <a:rPr lang="en-US" dirty="0"/>
              <a:t> (if any) in the new relation.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35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8171-2F7B-45EE-B4E8-205195684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08213"/>
            <a:ext cx="8596668" cy="5333150"/>
          </a:xfrm>
        </p:spPr>
        <p:txBody>
          <a:bodyPr/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Entities: </a:t>
            </a: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COURSE</a:t>
            </a:r>
            <a:r>
              <a:rPr lang="en-US" dirty="0"/>
              <a:t> have a many-to-many relationship — </a:t>
            </a:r>
            <a:r>
              <a:rPr lang="en-US" i="1" dirty="0"/>
              <a:t>ENROLLS</a:t>
            </a:r>
            <a:r>
              <a:rPr lang="en-US" dirty="0"/>
              <a:t>.</a:t>
            </a:r>
          </a:p>
          <a:p>
            <a:r>
              <a:rPr lang="en-US" b="1" dirty="0"/>
              <a:t>STUDENT(</a:t>
            </a:r>
            <a:r>
              <a:rPr lang="en-US" b="1" dirty="0" err="1"/>
              <a:t>Student_ID</a:t>
            </a:r>
            <a:r>
              <a:rPr lang="en-US" b="1" dirty="0"/>
              <a:t>, Name)</a:t>
            </a:r>
            <a:endParaRPr lang="en-US" dirty="0"/>
          </a:p>
          <a:p>
            <a:r>
              <a:rPr lang="en-US" b="1" dirty="0"/>
              <a:t>COURSE(</a:t>
            </a:r>
            <a:r>
              <a:rPr lang="en-US" b="1" dirty="0" err="1"/>
              <a:t>Course_ID</a:t>
            </a:r>
            <a:r>
              <a:rPr lang="en-US" b="1" dirty="0"/>
              <a:t>, Title)</a:t>
            </a:r>
          </a:p>
          <a:p>
            <a:endParaRPr lang="en-US" b="1" dirty="0"/>
          </a:p>
          <a:p>
            <a:r>
              <a:rPr lang="en-US" i="1" dirty="0" err="1"/>
              <a:t>Student_ID</a:t>
            </a:r>
            <a:r>
              <a:rPr lang="en-US" dirty="0"/>
              <a:t> → Foreign Key from STUDENT</a:t>
            </a:r>
          </a:p>
          <a:p>
            <a:r>
              <a:rPr lang="en-US" i="1" dirty="0" err="1"/>
              <a:t>Course_ID</a:t>
            </a:r>
            <a:r>
              <a:rPr lang="en-US" dirty="0"/>
              <a:t> → Foreign Key from COURSE</a:t>
            </a:r>
          </a:p>
          <a:p>
            <a:r>
              <a:rPr lang="en-US" i="1" dirty="0"/>
              <a:t>(</a:t>
            </a:r>
            <a:r>
              <a:rPr lang="en-US" i="1" dirty="0" err="1"/>
              <a:t>Student_ID</a:t>
            </a:r>
            <a:r>
              <a:rPr lang="en-US" i="1" dirty="0"/>
              <a:t>, </a:t>
            </a:r>
            <a:r>
              <a:rPr lang="en-US" i="1" dirty="0" err="1"/>
              <a:t>Course_ID</a:t>
            </a:r>
            <a:r>
              <a:rPr lang="en-US" i="1" dirty="0"/>
              <a:t>)</a:t>
            </a:r>
            <a:r>
              <a:rPr lang="en-US" dirty="0"/>
              <a:t> → Composite Primary Key</a:t>
            </a:r>
          </a:p>
          <a:p>
            <a:endParaRPr lang="en-US" dirty="0"/>
          </a:p>
          <a:p>
            <a:r>
              <a:rPr lang="en-US" dirty="0"/>
              <a:t>A many-to-many relationship is resolved by creating a new table that links the two related entities through their primary keys.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40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3C0D-785F-4B32-80A1-75561DDF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2329"/>
          </a:xfrm>
        </p:spPr>
        <p:txBody>
          <a:bodyPr>
            <a:noAutofit/>
          </a:bodyPr>
          <a:lstStyle/>
          <a:p>
            <a:pPr algn="just"/>
            <a:r>
              <a:rPr lang="en-US" sz="2600" dirty="0"/>
              <a:t>Q10) Draw all the ER-Diagrams given in the ER-Example file and convert all into Relational Schema.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154EE-5452-4293-B5B2-8A12ED570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401"/>
            <a:ext cx="8596668" cy="43649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5767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1520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Q1) What is an Entity? Give example.</vt:lpstr>
      <vt:lpstr>Q2) What is a Relationship? Explain types of Relationship.</vt:lpstr>
      <vt:lpstr>Q3) Explain relationship cardinality in detail with suitable example.</vt:lpstr>
      <vt:lpstr>Q4) Define Weak Entity. Explain with example.</vt:lpstr>
      <vt:lpstr>Q5) Explain relationship-type attribute with suitable example.</vt:lpstr>
      <vt:lpstr>Q6) What is Participation Constraint? Explain with example.</vt:lpstr>
      <vt:lpstr>PowerPoint Presentation</vt:lpstr>
      <vt:lpstr>Q7) What are the types of attributes? Explain each with example.</vt:lpstr>
      <vt:lpstr>Q8) Explain Primary Key and Foreign Key.</vt:lpstr>
      <vt:lpstr>PowerPoint Presentation</vt:lpstr>
      <vt:lpstr>Q9) What are the rules to convert n:m (many-to-many) relationship into a relational model?</vt:lpstr>
      <vt:lpstr>PowerPoint Presentation</vt:lpstr>
      <vt:lpstr>Q10) Draw all the ER-Diagrams given in the ER-Example file and convert all into Relational Schema.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62</cp:revision>
  <dcterms:created xsi:type="dcterms:W3CDTF">2025-10-31T09:47:41Z</dcterms:created>
  <dcterms:modified xsi:type="dcterms:W3CDTF">2025-10-31T10:42:07Z</dcterms:modified>
</cp:coreProperties>
</file>